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4114800" cy="4114800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10B981"/>
                </a:solidFill>
                <a:latin typeface="Calibri"/>
              </a:defRPr>
            </a:pPr>
            <a:r>
              <a:t>Vue Flow 簡易上手指南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8FAFC"/>
                </a:solidFill>
                <a:latin typeface="Calibri"/>
              </a:defRPr>
            </a:pPr>
            <a:r>
              <a:t>核心概念與基礎互動範例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566160"/>
            <a:ext cx="2286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931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使用 @vue-flow/core 來實作極簡的有向圖與流程圖</a:t>
            </a:r>
            <a:br/>
            <a:r>
              <a:t>本教學專注於内建節點與最基礎的動態連線邏輯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93776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0B981"/>
                </a:solidFill>
                <a:latin typeface="Calibri"/>
              </a:rPr>
              <a:t>Vue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493776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6B6D4"/>
                </a:solidFill>
                <a:latin typeface="Calibri"/>
              </a:rPr>
              <a:t>TypeScript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4937760"/>
            <a:ext cx="1463040" cy="320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366F1"/>
                </a:solidFill>
                <a:latin typeface="Calibri"/>
              </a:rPr>
              <a:t>Vue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01  VUE FLOW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核心物件與運作機制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97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>
                <a:solidFill>
                  <a:srgbClr val="10B981"/>
                </a:solidFill>
              </a:rPr>
              <a:t>📍  </a:t>
            </a:r>
            <a:r>
              <a:rPr sz="1600" b="1">
                <a:solidFill>
                  <a:srgbClr val="F8FAFC"/>
                </a:solidFill>
              </a:rPr>
              <a:t>Nodes (節點)</a:t>
            </a:r>
            <a:r>
              <a:rPr sz="1450">
                <a:solidFill>
                  <a:srgbClr val="94A3B8"/>
                </a:solidFill>
              </a:rPr>
              <a:t>  —  流程圖中的主體方塊。包含 id、座標 position、文字標籤 label、型別 type 等。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>
                <a:solidFill>
                  <a:srgbClr val="10B981"/>
                </a:solidFill>
              </a:rPr>
              <a:t>⚡  </a:t>
            </a:r>
            <a:r>
              <a:rPr sz="1600" b="1">
                <a:solidFill>
                  <a:srgbClr val="F8FAFC"/>
                </a:solidFill>
              </a:rPr>
              <a:t>Edges (連線/邊)</a:t>
            </a:r>
            <a:r>
              <a:rPr sz="1450">
                <a:solidFill>
                  <a:srgbClr val="94A3B8"/>
                </a:solidFill>
              </a:rPr>
              <a:t>  —  連接著兩個節點的有向線段。具有 source (來源節點 id) 與 target (目標節點 id)。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>
                <a:solidFill>
                  <a:srgbClr val="10B981"/>
                </a:solidFill>
              </a:rPr>
              <a:t>🔵  </a:t>
            </a:r>
            <a:r>
              <a:rPr sz="1600" b="1">
                <a:solidFill>
                  <a:srgbClr val="F8FAFC"/>
                </a:solidFill>
              </a:rPr>
              <a:t>Handles (連接點)</a:t>
            </a:r>
            <a:r>
              <a:rPr sz="1450">
                <a:solidFill>
                  <a:srgbClr val="94A3B8"/>
                </a:solidFill>
              </a:rPr>
              <a:t>  —  節點內部的接口，分為 target (輸入，通常在左/上) 與 source (輸出，通常在右/下)。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>
                <a:solidFill>
                  <a:srgbClr val="10B981"/>
                </a:solidFill>
              </a:rPr>
              <a:t>🌊  </a:t>
            </a:r>
            <a:r>
              <a:rPr sz="1600" b="1">
                <a:solidFill>
                  <a:srgbClr val="F8FAFC"/>
                </a:solidFill>
              </a:rPr>
              <a:t>VueFlow 容器</a:t>
            </a:r>
            <a:r>
              <a:rPr sz="1450">
                <a:solidFill>
                  <a:srgbClr val="94A3B8"/>
                </a:solidFill>
              </a:rPr>
              <a:t>  —  頂層的 Vue 元件。必須賦予其固定的寬高 (如 100vh / 100%)，否則畫布無法正常渲染。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02  BUILT-IN NODE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三種基礎的內建節點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97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383280" cy="38404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33832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FAFC"/>
                </a:solidFill>
                <a:latin typeface="Calibri"/>
              </a:defRPr>
            </a:pPr>
            <a:r>
              <a:t>輸入節點 (input)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Calibri"/>
              </a:defRPr>
            </a:pPr>
            <a:r>
              <a:t>僅有 source 輸出點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3200400"/>
            <a:ext cx="54864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8328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一般用於整個流程圖的起始點，例如「資料來源」或「起點」。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03120"/>
            <a:ext cx="3383280" cy="38404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103120"/>
            <a:ext cx="3383280" cy="50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FAFC"/>
                </a:solidFill>
                <a:latin typeface="Calibri"/>
              </a:defRPr>
            </a:pPr>
            <a:r>
              <a:t>預設節點 (default)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366F1"/>
                </a:solidFill>
                <a:latin typeface="Calibri"/>
              </a:defRPr>
            </a:pPr>
            <a:r>
              <a:t>具備 input 與 output 兩端點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3200400"/>
            <a:ext cx="54864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38328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最普遍的節點，用於進行資料運算、轉換等中間過程。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103120"/>
            <a:ext cx="3383280" cy="38404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2103120"/>
            <a:ext cx="3383280" cy="508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377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FAFC"/>
                </a:solidFill>
                <a:latin typeface="Calibri"/>
              </a:defRPr>
            </a:pPr>
            <a:r>
              <a:t>輸出節點 (output)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8346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43F5E"/>
                </a:solidFill>
                <a:latin typeface="Calibri"/>
              </a:defRPr>
            </a:pPr>
            <a:r>
              <a:t>僅有 target 輸入點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3200400"/>
            <a:ext cx="548640" cy="3810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38328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一般用於流程圖的終點，例如「寫入資料庫」或「結束」。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03  QUICK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環境配置與快速啟用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97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>
                <a:solidFill>
                  <a:srgbClr val="10B981"/>
                </a:solidFill>
              </a:rPr>
              <a:t>1️⃣  </a:t>
            </a:r>
            <a:r>
              <a:rPr sz="1500" b="1">
                <a:solidFill>
                  <a:srgbClr val="F8FAFC"/>
                </a:solidFill>
              </a:rPr>
              <a:t>安裝依賴</a:t>
            </a:r>
            <a:r>
              <a:rPr sz="1350">
                <a:solidFill>
                  <a:srgbClr val="94A3B8"/>
                </a:solidFill>
              </a:rPr>
              <a:t>  —  npm i @vue-flow/core @vue-flow/background @vue-flow/controls @vue-flow/minimap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>
                <a:solidFill>
                  <a:srgbClr val="10B981"/>
                </a:solidFill>
              </a:rPr>
              <a:t>2️⃣  </a:t>
            </a:r>
            <a:r>
              <a:rPr sz="1500" b="1">
                <a:solidFill>
                  <a:srgbClr val="F8FAFC"/>
                </a:solidFill>
              </a:rPr>
              <a:t>樣式載入</a:t>
            </a:r>
            <a:r>
              <a:rPr sz="1350">
                <a:solidFill>
                  <a:srgbClr val="94A3B8"/>
                </a:solidFill>
              </a:rPr>
              <a:t>  —  在 main.ts 引入官方 CSS 與主題，以及自訂的覆寫樣式 (以本專案 style.css 為主)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>
                <a:solidFill>
                  <a:srgbClr val="10B981"/>
                </a:solidFill>
              </a:rPr>
              <a:t>3️⃣  </a:t>
            </a:r>
            <a:r>
              <a:rPr sz="1500" b="1">
                <a:solidFill>
                  <a:srgbClr val="F8FAFC"/>
                </a:solidFill>
              </a:rPr>
              <a:t>畫布容器</a:t>
            </a:r>
            <a:r>
              <a:rPr sz="1350">
                <a:solidFill>
                  <a:srgbClr val="94A3B8"/>
                </a:solidFill>
              </a:rPr>
              <a:t>  —  在 App.vue 宣告一個佔滿螢幕或指定高寬的 DOM 容器，然後載入 &lt;VueFlow&gt;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011680"/>
            <a:ext cx="5394960" cy="4023360"/>
          </a:xfrm>
          <a:prstGeom prst="roundRect">
            <a:avLst>
              <a:gd name="adj" fmla="val 5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210312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4748B"/>
                </a:solidFill>
                <a:latin typeface="Consolas"/>
              </a:rPr>
              <a:t>/* main.ts */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import</a:t>
            </a:r>
            <a:r>
              <a:rPr sz="1000">
                <a:solidFill>
                  <a:srgbClr val="D4D4D8"/>
                </a:solidFill>
                <a:latin typeface="Consolas"/>
              </a:rPr>
              <a:t> </a:t>
            </a:r>
            <a:r>
              <a:rPr sz="1000">
                <a:solidFill>
                  <a:srgbClr val="D4D4D8"/>
                </a:solidFill>
                <a:latin typeface="Consolas"/>
              </a:rPr>
              <a:t>{</a:t>
            </a:r>
            <a:r>
              <a:rPr sz="1000">
                <a:solidFill>
                  <a:srgbClr val="D4D4D8"/>
                </a:solidFill>
                <a:latin typeface="Consolas"/>
              </a:rPr>
              <a:t> createApp </a:t>
            </a:r>
            <a:r>
              <a:rPr sz="1000">
                <a:solidFill>
                  <a:srgbClr val="D4D4D8"/>
                </a:solidFill>
                <a:latin typeface="Consolas"/>
              </a:rPr>
              <a:t>}</a:t>
            </a:r>
            <a:r>
              <a:rPr sz="1000">
                <a:solidFill>
                  <a:srgbClr val="C084FC"/>
                </a:solidFill>
                <a:latin typeface="Consolas"/>
              </a:rPr>
              <a:t> from</a:t>
            </a:r>
            <a:r>
              <a:rPr sz="1000">
                <a:solidFill>
                  <a:srgbClr val="D4D4D8"/>
                </a:solidFill>
                <a:latin typeface="Consolas"/>
              </a:rPr>
              <a:t> </a:t>
            </a:r>
            <a:r>
              <a:rPr sz="1000">
                <a:solidFill>
                  <a:srgbClr val="34D399"/>
                </a:solidFill>
                <a:latin typeface="Consolas"/>
              </a:rPr>
              <a:t>'vue'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import</a:t>
            </a:r>
            <a:r>
              <a:rPr sz="1000">
                <a:solidFill>
                  <a:srgbClr val="D4D4D8"/>
                </a:solidFill>
                <a:latin typeface="Consolas"/>
              </a:rPr>
              <a:t> App from </a:t>
            </a:r>
            <a:r>
              <a:rPr sz="1000">
                <a:solidFill>
                  <a:srgbClr val="34D399"/>
                </a:solidFill>
                <a:latin typeface="Consolas"/>
              </a:rPr>
              <a:t>'./App.vue'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4748B"/>
                </a:solidFill>
                <a:latin typeface="Consolas"/>
              </a:rPr>
              <a:t>/* 1. 核心樣式 */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import</a:t>
            </a:r>
            <a:r>
              <a:rPr sz="1000">
                <a:solidFill>
                  <a:srgbClr val="D4D4D8"/>
                </a:solidFill>
                <a:latin typeface="Consolas"/>
              </a:rPr>
              <a:t> </a:t>
            </a:r>
            <a:r>
              <a:rPr sz="1000">
                <a:solidFill>
                  <a:srgbClr val="34D399"/>
                </a:solidFill>
                <a:latin typeface="Consolas"/>
              </a:rPr>
              <a:t>'@vue-flow/core/dist/style.css'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4748B"/>
                </a:solidFill>
                <a:latin typeface="Consolas"/>
              </a:rPr>
              <a:t>/* 2. 外掛樣式 */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import</a:t>
            </a:r>
            <a:r>
              <a:rPr sz="1000">
                <a:solidFill>
                  <a:srgbClr val="D4D4D8"/>
                </a:solidFill>
                <a:latin typeface="Consolas"/>
              </a:rPr>
              <a:t> </a:t>
            </a:r>
            <a:r>
              <a:rPr sz="1000">
                <a:solidFill>
                  <a:srgbClr val="34D399"/>
                </a:solidFill>
                <a:latin typeface="Consolas"/>
              </a:rPr>
              <a:t>'@vue-flow/core/dist/theme-default.css'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import</a:t>
            </a:r>
            <a:r>
              <a:rPr sz="1000">
                <a:solidFill>
                  <a:srgbClr val="D4D4D8"/>
                </a:solidFill>
                <a:latin typeface="Consolas"/>
              </a:rPr>
              <a:t> </a:t>
            </a:r>
            <a:r>
              <a:rPr sz="1000">
                <a:solidFill>
                  <a:srgbClr val="34D399"/>
                </a:solidFill>
                <a:latin typeface="Consolas"/>
              </a:rPr>
              <a:t>'@vue-flow/controls/dist/style.css'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import</a:t>
            </a:r>
            <a:r>
              <a:rPr sz="1000">
                <a:solidFill>
                  <a:srgbClr val="D4D4D8"/>
                </a:solidFill>
                <a:latin typeface="Consolas"/>
              </a:rPr>
              <a:t> </a:t>
            </a:r>
            <a:r>
              <a:rPr sz="1000">
                <a:solidFill>
                  <a:srgbClr val="34D399"/>
                </a:solidFill>
                <a:latin typeface="Consolas"/>
              </a:rPr>
              <a:t>'@vue-flow/minimap/dist/style.css'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4748B"/>
                </a:solidFill>
                <a:latin typeface="Consolas"/>
              </a:rPr>
              <a:t>/* 3. 自訂樣式與主題覆寫 */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import</a:t>
            </a:r>
            <a:r>
              <a:rPr sz="1000">
                <a:solidFill>
                  <a:srgbClr val="D4D4D8"/>
                </a:solidFill>
                <a:latin typeface="Consolas"/>
              </a:rPr>
              <a:t> </a:t>
            </a:r>
            <a:r>
              <a:rPr sz="1000">
                <a:solidFill>
                  <a:srgbClr val="34D399"/>
                </a:solidFill>
                <a:latin typeface="Consolas"/>
              </a:rPr>
              <a:t>'./style.css'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>createApp(App).mount(</a:t>
            </a:r>
            <a:r>
              <a:rPr sz="1000">
                <a:solidFill>
                  <a:srgbClr val="34D399"/>
                </a:solidFill>
                <a:latin typeface="Consolas"/>
              </a:rPr>
              <a:t>'#app'</a:t>
            </a:r>
            <a:r>
              <a:rPr sz="1000">
                <a:solidFill>
                  <a:srgbClr val="D4D4D8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04  CODE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極簡版 App.vue 實作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97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669280" cy="4297680"/>
          </a:xfrm>
          <a:prstGeom prst="roundRect">
            <a:avLst>
              <a:gd name="adj" fmla="val 5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&lt;script setup lang="ts"&gt;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import</a:t>
            </a:r>
            <a:r>
              <a:rPr sz="1000">
                <a:solidFill>
                  <a:srgbClr val="D4D4D8"/>
                </a:solidFill>
                <a:latin typeface="Consolas"/>
              </a:rPr>
              <a:t> { ref } from </a:t>
            </a:r>
            <a:r>
              <a:rPr sz="1000">
                <a:solidFill>
                  <a:srgbClr val="34D399"/>
                </a:solidFill>
                <a:latin typeface="Consolas"/>
              </a:rPr>
              <a:t>'vue'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import</a:t>
            </a:r>
            <a:r>
              <a:rPr sz="1000">
                <a:solidFill>
                  <a:srgbClr val="D4D4D8"/>
                </a:solidFill>
                <a:latin typeface="Consolas"/>
              </a:rPr>
              <a:t> { VueFlow } from </a:t>
            </a:r>
            <a:r>
              <a:rPr sz="1000">
                <a:solidFill>
                  <a:srgbClr val="34D399"/>
                </a:solidFill>
                <a:latin typeface="Consolas"/>
              </a:rPr>
              <a:t>'@vue-flow/core'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import</a:t>
            </a:r>
            <a:r>
              <a:rPr sz="1000">
                <a:solidFill>
                  <a:srgbClr val="D4D4D8"/>
                </a:solidFill>
                <a:latin typeface="Consolas"/>
              </a:rPr>
              <a:t> { initialNodes, initialEdges } from </a:t>
            </a:r>
            <a:r>
              <a:rPr sz="1000">
                <a:solidFill>
                  <a:srgbClr val="34D399"/>
                </a:solidFill>
                <a:latin typeface="Consolas"/>
              </a:rPr>
              <a:t>'./initial-elements'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const</a:t>
            </a:r>
            <a:r>
              <a:rPr sz="1000">
                <a:solidFill>
                  <a:srgbClr val="D4D4D8"/>
                </a:solidFill>
                <a:latin typeface="Consolas"/>
              </a:rPr>
              <a:t> nodes = ref(initialNodes)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const</a:t>
            </a:r>
            <a:r>
              <a:rPr sz="1000">
                <a:solidFill>
                  <a:srgbClr val="D4D4D8"/>
                </a:solidFill>
                <a:latin typeface="Consolas"/>
              </a:rPr>
              <a:t> edges = ref(initialEdges)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&lt;/script&gt;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&lt;template&gt;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>  </a:t>
            </a:r>
            <a:r>
              <a:rPr sz="1000">
                <a:solidFill>
                  <a:srgbClr val="64748B"/>
                </a:solidFill>
                <a:latin typeface="Consolas"/>
              </a:rPr>
              <a:t>&lt;!-- 容器必須有指定高度 --&gt;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  &lt;div </a:t>
            </a:r>
            <a:r>
              <a:rPr sz="1000">
                <a:solidFill>
                  <a:srgbClr val="818CF8"/>
                </a:solidFill>
                <a:latin typeface="Consolas"/>
              </a:rPr>
              <a:t>style</a:t>
            </a:r>
            <a:r>
              <a:rPr sz="1000">
                <a:solidFill>
                  <a:srgbClr val="D4D4D8"/>
                </a:solidFill>
                <a:latin typeface="Consolas"/>
              </a:rPr>
              <a:t>=</a:t>
            </a:r>
            <a:r>
              <a:rPr sz="1000">
                <a:solidFill>
                  <a:srgbClr val="34D399"/>
                </a:solidFill>
                <a:latin typeface="Consolas"/>
              </a:rPr>
              <a:t>"height: 100vh"</a:t>
            </a:r>
            <a:r>
              <a:rPr sz="1000">
                <a:solidFill>
                  <a:srgbClr val="FB7185"/>
                </a:solidFill>
                <a:latin typeface="Consolas"/>
              </a:rPr>
              <a:t>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    &lt;VueFlow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818CF8"/>
                </a:solidFill>
                <a:latin typeface="Consolas"/>
              </a:rPr>
              <a:t>      v-model:nodes</a:t>
            </a:r>
            <a:r>
              <a:rPr sz="1000">
                <a:solidFill>
                  <a:srgbClr val="D4D4D8"/>
                </a:solidFill>
                <a:latin typeface="Consolas"/>
              </a:rPr>
              <a:t>=</a:t>
            </a:r>
            <a:r>
              <a:rPr sz="1000">
                <a:solidFill>
                  <a:srgbClr val="34D399"/>
                </a:solidFill>
                <a:latin typeface="Consolas"/>
              </a:rPr>
              <a:t>"nodes"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818CF8"/>
                </a:solidFill>
                <a:latin typeface="Consolas"/>
              </a:rPr>
              <a:t>      v-model:edges</a:t>
            </a:r>
            <a:r>
              <a:rPr sz="1000">
                <a:solidFill>
                  <a:srgbClr val="D4D4D8"/>
                </a:solidFill>
                <a:latin typeface="Consolas"/>
              </a:rPr>
              <a:t>=</a:t>
            </a:r>
            <a:r>
              <a:rPr sz="1000">
                <a:solidFill>
                  <a:srgbClr val="34D399"/>
                </a:solidFill>
                <a:latin typeface="Consolas"/>
              </a:rPr>
              <a:t>"edges"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818CF8"/>
                </a:solidFill>
                <a:latin typeface="Consolas"/>
              </a:rPr>
              <a:t>      fit-view-on-init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    /&gt;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  &lt;/div&gt;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&lt;/template&gt;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>
                <a:solidFill>
                  <a:srgbClr val="10B981"/>
                </a:solidFill>
              </a:rPr>
              <a:t>📦  </a:t>
            </a:r>
            <a:r>
              <a:rPr sz="1500" b="1">
                <a:solidFill>
                  <a:srgbClr val="F8FAFC"/>
                </a:solidFill>
              </a:rPr>
              <a:t>v-model 響應式雙向綁定</a:t>
            </a:r>
            <a:r>
              <a:rPr sz="1350">
                <a:solidFill>
                  <a:srgbClr val="94A3B8"/>
                </a:solidFill>
              </a:rPr>
              <a:t>  —  Vue Flow 將畫面節點位置及狀態同步回 variables。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>
                <a:solidFill>
                  <a:srgbClr val="10B981"/>
                </a:solidFill>
              </a:rPr>
              <a:t>📐  </a:t>
            </a:r>
            <a:r>
              <a:rPr sz="1500" b="1">
                <a:solidFill>
                  <a:srgbClr val="F8FAFC"/>
                </a:solidFill>
              </a:rPr>
              <a:t>自動適配畫面 (fitView)</a:t>
            </a:r>
            <a:r>
              <a:rPr sz="1350">
                <a:solidFill>
                  <a:srgbClr val="94A3B8"/>
                </a:solidFill>
              </a:rPr>
              <a:t>  —  啟用 fit-view-on-init 可以讓流程圖在載入時自動置中並調整縮放比例。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>
                <a:solidFill>
                  <a:srgbClr val="10B981"/>
                </a:solidFill>
              </a:rPr>
              <a:t>⚡  </a:t>
            </a:r>
            <a:r>
              <a:rPr sz="1500" b="1">
                <a:solidFill>
                  <a:srgbClr val="F8FAFC"/>
                </a:solidFill>
              </a:rPr>
              <a:t>程式碼極度乾淨</a:t>
            </a:r>
            <a:r>
              <a:rPr sz="1350">
                <a:solidFill>
                  <a:srgbClr val="94A3B8"/>
                </a:solidFill>
              </a:rPr>
              <a:t>  —  不需要手動使用 useVueFlow 或是註冊自訂節點，只需定義基本資料即可跑起來。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05  CONNECTIONS &amp; 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8FAFC"/>
                </a:solidFill>
                <a:latin typeface="Calibri"/>
              </a:defRPr>
            </a:pPr>
            <a:r>
              <a:t>事件處理與輔助外掛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97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5669280" cy="4297680"/>
          </a:xfrm>
          <a:prstGeom prst="roundRect">
            <a:avLst>
              <a:gd name="adj" fmla="val 5000"/>
            </a:avLst>
          </a:prstGeom>
          <a:solidFill>
            <a:srgbClr val="0B0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4748B"/>
                </a:solidFill>
                <a:latin typeface="Consolas"/>
              </a:rPr>
              <a:t>/* App.vue - 連線邏輯與外掛整合 */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C084FC"/>
                </a:solidFill>
                <a:latin typeface="Consolas"/>
              </a:rPr>
              <a:t>const</a:t>
            </a:r>
            <a:r>
              <a:rPr sz="1000">
                <a:solidFill>
                  <a:srgbClr val="D4D4D8"/>
                </a:solidFill>
                <a:latin typeface="Consolas"/>
              </a:rPr>
              <a:t> onConnect = (connection) =&gt; {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>  edges.value.push({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>    id: </a:t>
            </a:r>
            <a:r>
              <a:rPr sz="1000">
                <a:solidFill>
                  <a:srgbClr val="34D399"/>
                </a:solidFill>
                <a:latin typeface="Consolas"/>
              </a:rPr>
              <a:t>`e-${connection.source}-${connection.target}`</a:t>
            </a:r>
            <a:r>
              <a:rPr sz="1000">
                <a:solidFill>
                  <a:srgbClr val="D4D4D8"/>
                </a:solidFill>
                <a:latin typeface="Consolas"/>
              </a:rPr>
              <a:t>,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>    source: connection.source,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>    target: connection.target,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>    animated: </a:t>
            </a:r>
            <a:r>
              <a:rPr sz="1000">
                <a:solidFill>
                  <a:srgbClr val="C084FC"/>
                </a:solidFill>
                <a:latin typeface="Consolas"/>
              </a:rPr>
              <a:t>true</a:t>
            </a:r>
            <a:r>
              <a:rPr sz="1000">
                <a:solidFill>
                  <a:srgbClr val="D4D4D8"/>
                </a:solidFill>
                <a:latin typeface="Consolas"/>
              </a:rPr>
              <a:t>, </a:t>
            </a:r>
            <a:r>
              <a:rPr sz="1000">
                <a:solidFill>
                  <a:srgbClr val="64748B"/>
                </a:solidFill>
                <a:latin typeface="Consolas"/>
              </a:rPr>
              <a:t>/* 動畫連線效果 */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>    style: { stroke: </a:t>
            </a:r>
            <a:r>
              <a:rPr sz="1000">
                <a:solidFill>
                  <a:srgbClr val="34D399"/>
                </a:solidFill>
                <a:latin typeface="Consolas"/>
              </a:rPr>
              <a:t>'#10b981'</a:t>
            </a:r>
            <a:r>
              <a:rPr sz="1000">
                <a:solidFill>
                  <a:srgbClr val="D4D4D8"/>
                </a:solidFill>
                <a:latin typeface="Consolas"/>
              </a:rPr>
              <a:t> },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>  })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>}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8"/>
                </a:solidFill>
                <a:latin typeface="Consolas"/>
              </a:rPr>
              <a:t/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4748B"/>
                </a:solidFill>
                <a:latin typeface="Consolas"/>
              </a:rPr>
              <a:t>&lt;!-- Template 整合外掛 --&gt;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&lt;VueFlow</a:t>
            </a:r>
            <a:r>
              <a:rPr sz="1000">
                <a:solidFill>
                  <a:srgbClr val="D4D4D8"/>
                </a:solidFill>
                <a:latin typeface="Consolas"/>
              </a:rPr>
              <a:t> ... </a:t>
            </a:r>
            <a:r>
              <a:rPr sz="1000">
                <a:solidFill>
                  <a:srgbClr val="818CF8"/>
                </a:solidFill>
                <a:latin typeface="Consolas"/>
              </a:rPr>
              <a:t>@connect</a:t>
            </a:r>
            <a:r>
              <a:rPr sz="1000">
                <a:solidFill>
                  <a:srgbClr val="D4D4D8"/>
                </a:solidFill>
                <a:latin typeface="Consolas"/>
              </a:rPr>
              <a:t>=</a:t>
            </a:r>
            <a:r>
              <a:rPr sz="1000">
                <a:solidFill>
                  <a:srgbClr val="34D399"/>
                </a:solidFill>
                <a:latin typeface="Consolas"/>
              </a:rPr>
              <a:t>"onConnect"</a:t>
            </a:r>
            <a:r>
              <a:rPr sz="1000">
                <a:solidFill>
                  <a:srgbClr val="FB7185"/>
                </a:solidFill>
                <a:latin typeface="Consolas"/>
              </a:rPr>
              <a:t>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  &lt;Background </a:t>
            </a:r>
            <a:r>
              <a:rPr sz="1000">
                <a:solidFill>
                  <a:srgbClr val="818CF8"/>
                </a:solidFill>
                <a:latin typeface="Consolas"/>
              </a:rPr>
              <a:t>:gap</a:t>
            </a:r>
            <a:r>
              <a:rPr sz="1000">
                <a:solidFill>
                  <a:srgbClr val="D4D4D8"/>
                </a:solidFill>
                <a:latin typeface="Consolas"/>
              </a:rPr>
              <a:t>=</a:t>
            </a:r>
            <a:r>
              <a:rPr sz="1000">
                <a:solidFill>
                  <a:srgbClr val="34D399"/>
                </a:solidFill>
                <a:latin typeface="Consolas"/>
              </a:rPr>
              <a:t>"20"</a:t>
            </a:r>
            <a:r>
              <a:rPr sz="1000">
                <a:solidFill>
                  <a:srgbClr val="FB7185"/>
                </a:solidFill>
                <a:latin typeface="Consolas"/>
              </a:rPr>
              <a:t> /&gt;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  &lt;Controls /&gt;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  &lt;MiniMap /&gt;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B7185"/>
                </a:solidFill>
                <a:latin typeface="Consolas"/>
              </a:rPr>
              <a:t>&lt;/VueFlow&gt;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400">
                <a:solidFill>
                  <a:srgbClr val="10B981"/>
                </a:solidFill>
              </a:rPr>
              <a:t>🤝  </a:t>
            </a:r>
            <a:r>
              <a:rPr sz="1400" b="1">
                <a:solidFill>
                  <a:srgbClr val="F8FAFC"/>
                </a:solidFill>
              </a:rPr>
              <a:t>@connect 連線事件</a:t>
            </a:r>
            <a:r>
              <a:rPr sz="1250">
                <a:solidFill>
                  <a:srgbClr val="94A3B8"/>
                </a:solidFill>
              </a:rPr>
              <a:t>  —  當使用者完成滑鼠拉線，將 Connection 連接規格（source, target）轉化為真正的 Edge，推入 edges 響應式陣列。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400">
                <a:solidFill>
                  <a:srgbClr val="10B981"/>
                </a:solidFill>
              </a:rPr>
              <a:t>🏁  </a:t>
            </a:r>
            <a:r>
              <a:rPr sz="1400" b="1">
                <a:solidFill>
                  <a:srgbClr val="F8FAFC"/>
                </a:solidFill>
              </a:rPr>
              <a:t>Background 背景網格</a:t>
            </a:r>
            <a:r>
              <a:rPr sz="1250">
                <a:solidFill>
                  <a:srgbClr val="94A3B8"/>
                </a:solidFill>
              </a:rPr>
              <a:t>  —  提供視覺參考點與網格輔助，可以自訂間距（gap）與網格顏色（pattern-color）。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400">
                <a:solidFill>
                  <a:srgbClr val="10B981"/>
                </a:solidFill>
              </a:rPr>
              <a:t>🎮  </a:t>
            </a:r>
            <a:r>
              <a:rPr sz="1400" b="1">
                <a:solidFill>
                  <a:srgbClr val="F8FAFC"/>
                </a:solidFill>
              </a:rPr>
              <a:t>Controls 縮放控制</a:t>
            </a:r>
            <a:r>
              <a:rPr sz="1250">
                <a:solidFill>
                  <a:srgbClr val="94A3B8"/>
                </a:solidFill>
              </a:rPr>
              <a:t>  —  提供縮放（Zoom-in/out）、適配畫面（fit-view）以及鎖定（lock）功能的浮動控制列。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400">
                <a:solidFill>
                  <a:srgbClr val="10B981"/>
                </a:solidFill>
              </a:rPr>
              <a:t>🗺️  </a:t>
            </a:r>
            <a:r>
              <a:rPr sz="1400" b="1">
                <a:solidFill>
                  <a:srgbClr val="F8FAFC"/>
                </a:solidFill>
              </a:rPr>
              <a:t>MiniMap 鷹眼地圖</a:t>
            </a:r>
            <a:r>
              <a:rPr sz="1250">
                <a:solidFill>
                  <a:srgbClr val="94A3B8"/>
                </a:solidFill>
              </a:rPr>
              <a:t>  —  在右下角提供一個全景的微型地圖，特別適合在大畫布的場景中進行全局定位。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