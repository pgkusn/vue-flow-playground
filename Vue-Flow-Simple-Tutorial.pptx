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914400" y="-914400"/>
            <a:ext cx="4114800" cy="4114800"/>
          </a:xfrm>
          <a:prstGeom prst="ellipse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8288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400" b="1">
                <a:solidFill>
                  <a:srgbClr val="10B981"/>
                </a:solidFill>
                <a:latin typeface="Calibri"/>
              </a:defRPr>
            </a:pPr>
            <a:r>
              <a:t>Vue Flow 簡易上手指南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8346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8FAFC"/>
                </a:solidFill>
                <a:latin typeface="Calibri"/>
              </a:defRPr>
            </a:pPr>
            <a:r>
              <a:t>包含自定義節點的互動流程圖開發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3566160"/>
            <a:ext cx="228600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393192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4A3B8"/>
                </a:solidFill>
                <a:latin typeface="Calibri"/>
              </a:defRPr>
            </a:pPr>
            <a:r>
              <a:t>使用 @vue-flow/core 實作極簡的有向圖與流程圖</a:t>
            </a:r>
            <a:br/>
            <a:r>
              <a:t>本教學專注於內建三種節點、自定義節點與基本動態連線邏輯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71600" y="4937760"/>
            <a:ext cx="1463040" cy="32004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0B981"/>
                </a:solidFill>
                <a:latin typeface="Calibri"/>
              </a:rPr>
              <a:t>Vue 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017520" y="4937760"/>
            <a:ext cx="1463040" cy="32004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6B6D4"/>
                </a:solidFill>
                <a:latin typeface="Calibri"/>
              </a:rPr>
              <a:t>TypeScript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63440" y="4937760"/>
            <a:ext cx="1463040" cy="32004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366F1"/>
                </a:solidFill>
                <a:latin typeface="Calibri"/>
              </a:rPr>
              <a:t>Vue Flow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B981"/>
                </a:solidFill>
                <a:latin typeface="Calibri"/>
              </a:defRPr>
            </a:pPr>
            <a:r>
              <a:t>01  VUE FLOW BASICS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8FAFC"/>
                </a:solidFill>
                <a:latin typeface="Calibri"/>
              </a:defRPr>
            </a:pPr>
            <a:r>
              <a:t>核心概念與內建節點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109728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spcAft>
                <a:spcPts val="300"/>
              </a:spcAft>
            </a:pPr>
            <a:r>
              <a:rPr sz="1500">
                <a:solidFill>
                  <a:srgbClr val="10B981"/>
                </a:solidFill>
              </a:rPr>
              <a:t>📍  </a:t>
            </a:r>
            <a:r>
              <a:rPr sz="1500" b="1">
                <a:solidFill>
                  <a:srgbClr val="F8FAFC"/>
                </a:solidFill>
              </a:rPr>
              <a:t>Nodes (節點)</a:t>
            </a:r>
            <a:r>
              <a:rPr sz="1350">
                <a:solidFill>
                  <a:srgbClr val="94A3B8"/>
                </a:solidFill>
              </a:rPr>
              <a:t>  —  流程圖中的方塊，包含 id, position (座標), label (標籤), type (類型)。</a:t>
            </a:r>
          </a:p>
          <a:p>
            <a:pPr>
              <a:spcBef>
                <a:spcPts val="500"/>
              </a:spcBef>
              <a:spcAft>
                <a:spcPts val="300"/>
              </a:spcAft>
            </a:pPr>
            <a:r>
              <a:rPr sz="1500">
                <a:solidFill>
                  <a:srgbClr val="10B981"/>
                </a:solidFill>
              </a:rPr>
              <a:t>⚡  </a:t>
            </a:r>
            <a:r>
              <a:rPr sz="1500" b="1">
                <a:solidFill>
                  <a:srgbClr val="F8FAFC"/>
                </a:solidFill>
              </a:rPr>
              <a:t>Edges (連線/邊)</a:t>
            </a:r>
            <a:r>
              <a:rPr sz="1350">
                <a:solidFill>
                  <a:srgbClr val="94A3B8"/>
                </a:solidFill>
              </a:rPr>
              <a:t>  —  連接著兩個節點的有向線段。具有 source 來源與 target 目標節點 id。</a:t>
            </a:r>
          </a:p>
          <a:p>
            <a:pPr>
              <a:spcBef>
                <a:spcPts val="500"/>
              </a:spcBef>
              <a:spcAft>
                <a:spcPts val="300"/>
              </a:spcAft>
            </a:pPr>
            <a:r>
              <a:rPr sz="1500">
                <a:solidFill>
                  <a:srgbClr val="10B981"/>
                </a:solidFill>
              </a:rPr>
              <a:t>🔵  </a:t>
            </a:r>
            <a:r>
              <a:rPr sz="1500" b="1">
                <a:solidFill>
                  <a:srgbClr val="F8FAFC"/>
                </a:solidFill>
              </a:rPr>
              <a:t>Handles (連接點)</a:t>
            </a:r>
            <a:r>
              <a:rPr sz="1350">
                <a:solidFill>
                  <a:srgbClr val="94A3B8"/>
                </a:solidFill>
              </a:rPr>
              <a:t>  —  節點上的插座。有 target (輸入) 與 source (輸出) 兩種型態。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0" y="2011680"/>
            <a:ext cx="4846320" cy="41148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0" y="2194560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8FAFC"/>
                </a:solidFill>
                <a:latin typeface="Calibri"/>
              </a:defRPr>
            </a:pPr>
            <a:r>
              <a:t>三種官方內建節點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2651760"/>
            <a:ext cx="42976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spcAft>
                <a:spcPts val="300"/>
              </a:spcAft>
            </a:pPr>
            <a:r>
              <a:rPr sz="1400">
                <a:solidFill>
                  <a:srgbClr val="10B981"/>
                </a:solidFill>
              </a:rPr>
              <a:t>🟢  </a:t>
            </a:r>
            <a:r>
              <a:rPr sz="1400" b="1">
                <a:solidFill>
                  <a:srgbClr val="F8FAFC"/>
                </a:solidFill>
              </a:rPr>
              <a:t>input (輸入節點)</a:t>
            </a:r>
            <a:r>
              <a:rPr sz="1250">
                <a:solidFill>
                  <a:srgbClr val="94A3B8"/>
                </a:solidFill>
              </a:rPr>
              <a:t>  —  僅具備 source 輸出連接孔，常用作工作流起始點。</a:t>
            </a:r>
          </a:p>
          <a:p>
            <a:pPr>
              <a:spcBef>
                <a:spcPts val="500"/>
              </a:spcBef>
              <a:spcAft>
                <a:spcPts val="300"/>
              </a:spcAft>
            </a:pPr>
            <a:r>
              <a:rPr sz="1400">
                <a:solidFill>
                  <a:srgbClr val="10B981"/>
                </a:solidFill>
              </a:rPr>
              <a:t>🔵  </a:t>
            </a:r>
            <a:r>
              <a:rPr sz="1400" b="1">
                <a:solidFill>
                  <a:srgbClr val="F8FAFC"/>
                </a:solidFill>
              </a:rPr>
              <a:t>default (預設節點)</a:t>
            </a:r>
            <a:r>
              <a:rPr sz="1250">
                <a:solidFill>
                  <a:srgbClr val="94A3B8"/>
                </a:solidFill>
              </a:rPr>
              <a:t>  —  具備 input 與 output 兩端點，用於流程的中繼站。</a:t>
            </a:r>
          </a:p>
          <a:p>
            <a:pPr>
              <a:spcBef>
                <a:spcPts val="500"/>
              </a:spcBef>
              <a:spcAft>
                <a:spcPts val="300"/>
              </a:spcAft>
            </a:pPr>
            <a:r>
              <a:rPr sz="1400">
                <a:solidFill>
                  <a:srgbClr val="10B981"/>
                </a:solidFill>
              </a:rPr>
              <a:t>🔴  </a:t>
            </a:r>
            <a:r>
              <a:rPr sz="1400" b="1">
                <a:solidFill>
                  <a:srgbClr val="F8FAFC"/>
                </a:solidFill>
              </a:rPr>
              <a:t>output (輸出節點)</a:t>
            </a:r>
            <a:r>
              <a:rPr sz="1250">
                <a:solidFill>
                  <a:srgbClr val="94A3B8"/>
                </a:solidFill>
              </a:rPr>
              <a:t>  —  僅具備 target 輸入連接孔，常用作工作流終點。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B981"/>
                </a:solidFill>
                <a:latin typeface="Calibri"/>
              </a:defRPr>
            </a:pPr>
            <a:r>
              <a:t>02  QUICK INTEGRATION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8FAFC"/>
                </a:solidFill>
                <a:latin typeface="Calibri"/>
              </a:defRPr>
            </a:pPr>
            <a:r>
              <a:t>環境配置與快速啟用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109728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spcAft>
                <a:spcPts val="300"/>
              </a:spcAft>
            </a:pPr>
            <a:r>
              <a:rPr sz="1500">
                <a:solidFill>
                  <a:srgbClr val="10B981"/>
                </a:solidFill>
              </a:rPr>
              <a:t>1️⃣  </a:t>
            </a:r>
            <a:r>
              <a:rPr sz="1500" b="1">
                <a:solidFill>
                  <a:srgbClr val="F8FAFC"/>
                </a:solidFill>
              </a:rPr>
              <a:t>安裝依賴</a:t>
            </a:r>
            <a:r>
              <a:rPr sz="1350">
                <a:solidFill>
                  <a:srgbClr val="94A3B8"/>
                </a:solidFill>
              </a:rPr>
              <a:t>  —  npm i @vue-flow/core @vue-flow/background @vue-flow/controls @vue-flow/minimap</a:t>
            </a:r>
          </a:p>
          <a:p>
            <a:pPr>
              <a:spcBef>
                <a:spcPts val="500"/>
              </a:spcBef>
              <a:spcAft>
                <a:spcPts val="300"/>
              </a:spcAft>
            </a:pPr>
            <a:r>
              <a:rPr sz="1500">
                <a:solidFill>
                  <a:srgbClr val="10B981"/>
                </a:solidFill>
              </a:rPr>
              <a:t>2️⃣  </a:t>
            </a:r>
            <a:r>
              <a:rPr sz="1500" b="1">
                <a:solidFill>
                  <a:srgbClr val="F8FAFC"/>
                </a:solidFill>
              </a:rPr>
              <a:t>畫布容器</a:t>
            </a:r>
            <a:r>
              <a:rPr sz="1350">
                <a:solidFill>
                  <a:srgbClr val="94A3B8"/>
                </a:solidFill>
              </a:rPr>
              <a:t>  —  外層 DOM 容器必須被給予明確的高度 (如 100vh)，否則 Vue Flow 內部無法完成定位計算。</a:t>
            </a:r>
          </a:p>
          <a:p>
            <a:pPr>
              <a:spcBef>
                <a:spcPts val="500"/>
              </a:spcBef>
              <a:spcAft>
                <a:spcPts val="300"/>
              </a:spcAft>
            </a:pPr>
            <a:r>
              <a:rPr sz="1500">
                <a:solidFill>
                  <a:srgbClr val="10B981"/>
                </a:solidFill>
              </a:rPr>
              <a:t>3️⃣  </a:t>
            </a:r>
            <a:r>
              <a:rPr sz="1500" b="1">
                <a:solidFill>
                  <a:srgbClr val="F8FAFC"/>
                </a:solidFill>
              </a:rPr>
              <a:t>樣式載入</a:t>
            </a:r>
            <a:r>
              <a:rPr sz="1350">
                <a:solidFill>
                  <a:srgbClr val="94A3B8"/>
                </a:solidFill>
              </a:rPr>
              <a:t>  —  必須匯入官方提供的 core 與 theme 基礎 CSS 樣式，才能使連接孔與邊線正常定位與呈現。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2011680"/>
            <a:ext cx="5394960" cy="4023360"/>
          </a:xfrm>
          <a:prstGeom prst="roundRect">
            <a:avLst>
              <a:gd name="adj" fmla="val 5000"/>
            </a:avLst>
          </a:prstGeom>
          <a:solidFill>
            <a:srgbClr val="0B0F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0" y="2103120"/>
            <a:ext cx="52120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64748B"/>
                </a:solidFill>
                <a:latin typeface="Consolas"/>
              </a:rPr>
              <a:t>/* main.ts */</a:t>
            </a:r>
          </a:p>
          <a:p>
            <a:pPr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C084FC"/>
                </a:solidFill>
                <a:latin typeface="Consolas"/>
              </a:rPr>
              <a:t>import</a:t>
            </a:r>
            <a:r>
              <a:rPr sz="950">
                <a:solidFill>
                  <a:srgbClr val="D4D4D8"/>
                </a:solidFill>
                <a:latin typeface="Consolas"/>
              </a:rPr>
              <a:t> </a:t>
            </a:r>
            <a:r>
              <a:rPr sz="950">
                <a:solidFill>
                  <a:srgbClr val="D4D4D8"/>
                </a:solidFill>
                <a:latin typeface="Consolas"/>
              </a:rPr>
              <a:t>{</a:t>
            </a:r>
            <a:r>
              <a:rPr sz="950">
                <a:solidFill>
                  <a:srgbClr val="D4D4D8"/>
                </a:solidFill>
                <a:latin typeface="Consolas"/>
              </a:rPr>
              <a:t> createApp </a:t>
            </a:r>
            <a:r>
              <a:rPr sz="950">
                <a:solidFill>
                  <a:srgbClr val="D4D4D8"/>
                </a:solidFill>
                <a:latin typeface="Consolas"/>
              </a:rPr>
              <a:t>}</a:t>
            </a:r>
            <a:r>
              <a:rPr sz="950">
                <a:solidFill>
                  <a:srgbClr val="C084FC"/>
                </a:solidFill>
                <a:latin typeface="Consolas"/>
              </a:rPr>
              <a:t> from</a:t>
            </a:r>
            <a:r>
              <a:rPr sz="950">
                <a:solidFill>
                  <a:srgbClr val="D4D4D8"/>
                </a:solidFill>
                <a:latin typeface="Consolas"/>
              </a:rPr>
              <a:t> </a:t>
            </a:r>
            <a:r>
              <a:rPr sz="950">
                <a:solidFill>
                  <a:srgbClr val="34D399"/>
                </a:solidFill>
                <a:latin typeface="Consolas"/>
              </a:rPr>
              <a:t>'vue'</a:t>
            </a:r>
          </a:p>
          <a:p>
            <a:pPr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C084FC"/>
                </a:solidFill>
                <a:latin typeface="Consolas"/>
              </a:rPr>
              <a:t>import</a:t>
            </a:r>
            <a:r>
              <a:rPr sz="950">
                <a:solidFill>
                  <a:srgbClr val="D4D4D8"/>
                </a:solidFill>
                <a:latin typeface="Consolas"/>
              </a:rPr>
              <a:t> App from </a:t>
            </a:r>
            <a:r>
              <a:rPr sz="950">
                <a:solidFill>
                  <a:srgbClr val="34D399"/>
                </a:solidFill>
                <a:latin typeface="Consolas"/>
              </a:rPr>
              <a:t>'./App.vue'</a:t>
            </a:r>
          </a:p>
          <a:p>
            <a:pPr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D4D4D8"/>
                </a:solidFill>
                <a:latin typeface="Consolas"/>
              </a:rPr>
              <a:t/>
            </a:r>
          </a:p>
          <a:p>
            <a:pPr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64748B"/>
                </a:solidFill>
                <a:latin typeface="Consolas"/>
              </a:rPr>
              <a:t>/* 1. 載入 Vue Flow 核心與外掛 CSS 樣式 */</a:t>
            </a:r>
          </a:p>
          <a:p>
            <a:pPr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C084FC"/>
                </a:solidFill>
                <a:latin typeface="Consolas"/>
              </a:rPr>
              <a:t>import</a:t>
            </a:r>
            <a:r>
              <a:rPr sz="950">
                <a:solidFill>
                  <a:srgbClr val="D4D4D8"/>
                </a:solidFill>
                <a:latin typeface="Consolas"/>
              </a:rPr>
              <a:t> </a:t>
            </a:r>
            <a:r>
              <a:rPr sz="950">
                <a:solidFill>
                  <a:srgbClr val="34D399"/>
                </a:solidFill>
                <a:latin typeface="Consolas"/>
              </a:rPr>
              <a:t>'@vue-flow/core/dist/style.css'</a:t>
            </a:r>
          </a:p>
          <a:p>
            <a:pPr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C084FC"/>
                </a:solidFill>
                <a:latin typeface="Consolas"/>
              </a:rPr>
              <a:t>import</a:t>
            </a:r>
            <a:r>
              <a:rPr sz="950">
                <a:solidFill>
                  <a:srgbClr val="D4D4D8"/>
                </a:solidFill>
                <a:latin typeface="Consolas"/>
              </a:rPr>
              <a:t> </a:t>
            </a:r>
            <a:r>
              <a:rPr sz="950">
                <a:solidFill>
                  <a:srgbClr val="34D399"/>
                </a:solidFill>
                <a:latin typeface="Consolas"/>
              </a:rPr>
              <a:t>'@vue-flow/core/dist/theme-default.css'</a:t>
            </a:r>
          </a:p>
          <a:p>
            <a:pPr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C084FC"/>
                </a:solidFill>
                <a:latin typeface="Consolas"/>
              </a:rPr>
              <a:t>import</a:t>
            </a:r>
            <a:r>
              <a:rPr sz="950">
                <a:solidFill>
                  <a:srgbClr val="D4D4D8"/>
                </a:solidFill>
                <a:latin typeface="Consolas"/>
              </a:rPr>
              <a:t> </a:t>
            </a:r>
            <a:r>
              <a:rPr sz="950">
                <a:solidFill>
                  <a:srgbClr val="34D399"/>
                </a:solidFill>
                <a:latin typeface="Consolas"/>
              </a:rPr>
              <a:t>'@vue-flow/controls/dist/style.css'</a:t>
            </a:r>
          </a:p>
          <a:p>
            <a:pPr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C084FC"/>
                </a:solidFill>
                <a:latin typeface="Consolas"/>
              </a:rPr>
              <a:t>import</a:t>
            </a:r>
            <a:r>
              <a:rPr sz="950">
                <a:solidFill>
                  <a:srgbClr val="D4D4D8"/>
                </a:solidFill>
                <a:latin typeface="Consolas"/>
              </a:rPr>
              <a:t> </a:t>
            </a:r>
            <a:r>
              <a:rPr sz="950">
                <a:solidFill>
                  <a:srgbClr val="34D399"/>
                </a:solidFill>
                <a:latin typeface="Consolas"/>
              </a:rPr>
              <a:t>'@vue-flow/minimap/dist/style.css'</a:t>
            </a:r>
          </a:p>
          <a:p>
            <a:pPr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D4D4D8"/>
                </a:solidFill>
                <a:latin typeface="Consolas"/>
              </a:rPr>
              <a:t/>
            </a:r>
          </a:p>
          <a:p>
            <a:pPr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64748B"/>
                </a:solidFill>
                <a:latin typeface="Consolas"/>
              </a:rPr>
              <a:t>/* 2. 導入自訂樣式覆寫 */</a:t>
            </a:r>
          </a:p>
          <a:p>
            <a:pPr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C084FC"/>
                </a:solidFill>
                <a:latin typeface="Consolas"/>
              </a:rPr>
              <a:t>import</a:t>
            </a:r>
            <a:r>
              <a:rPr sz="950">
                <a:solidFill>
                  <a:srgbClr val="D4D4D8"/>
                </a:solidFill>
                <a:latin typeface="Consolas"/>
              </a:rPr>
              <a:t> </a:t>
            </a:r>
            <a:r>
              <a:rPr sz="950">
                <a:solidFill>
                  <a:srgbClr val="34D399"/>
                </a:solidFill>
                <a:latin typeface="Consolas"/>
              </a:rPr>
              <a:t>'./style.css'</a:t>
            </a:r>
          </a:p>
          <a:p>
            <a:pPr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D4D4D8"/>
                </a:solidFill>
                <a:latin typeface="Consolas"/>
              </a:rPr>
              <a:t/>
            </a:r>
          </a:p>
          <a:p>
            <a:pPr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D4D4D8"/>
                </a:solidFill>
                <a:latin typeface="Consolas"/>
              </a:rPr>
              <a:t>createApp(App).mount(</a:t>
            </a:r>
            <a:r>
              <a:rPr sz="950">
                <a:solidFill>
                  <a:srgbClr val="34D399"/>
                </a:solidFill>
                <a:latin typeface="Consolas"/>
              </a:rPr>
              <a:t>'#app'</a:t>
            </a:r>
            <a:r>
              <a:rPr sz="950">
                <a:solidFill>
                  <a:srgbClr val="D4D4D8"/>
                </a:solidFill>
                <a:latin typeface="Consolas"/>
              </a:rPr>
              <a:t>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B981"/>
                </a:solidFill>
                <a:latin typeface="Calibri"/>
              </a:defRPr>
            </a:pPr>
            <a:r>
              <a:t>03  CUSTOM NODES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8FAFC"/>
                </a:solidFill>
                <a:latin typeface="Calibri"/>
              </a:defRPr>
            </a:pPr>
            <a:r>
              <a:t>編寫 SimpleCustomNode 元件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109728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920240"/>
            <a:ext cx="5669280" cy="4297680"/>
          </a:xfrm>
          <a:prstGeom prst="roundRect">
            <a:avLst>
              <a:gd name="adj" fmla="val 5000"/>
            </a:avLst>
          </a:prstGeom>
          <a:solidFill>
            <a:srgbClr val="0B0F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64748B"/>
                </a:solidFill>
                <a:latin typeface="Consolas"/>
              </a:rPr>
              <a:t>&lt;!-- SimpleCustomNode.vue --&gt;</a:t>
            </a:r>
          </a:p>
          <a:p>
            <a:pPr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FB7185"/>
                </a:solidFill>
                <a:latin typeface="Consolas"/>
              </a:rPr>
              <a:t>&lt;script setup lang="ts"&gt;</a:t>
            </a:r>
          </a:p>
          <a:p>
            <a:pPr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C084FC"/>
                </a:solidFill>
                <a:latin typeface="Consolas"/>
              </a:rPr>
              <a:t>import</a:t>
            </a:r>
            <a:r>
              <a:rPr sz="950">
                <a:solidFill>
                  <a:srgbClr val="D4D4D8"/>
                </a:solidFill>
                <a:latin typeface="Consolas"/>
              </a:rPr>
              <a:t> { Handle, Position } from </a:t>
            </a:r>
            <a:r>
              <a:rPr sz="950">
                <a:solidFill>
                  <a:srgbClr val="34D399"/>
                </a:solidFill>
                <a:latin typeface="Consolas"/>
              </a:rPr>
              <a:t>'@vue-flow/core'</a:t>
            </a:r>
          </a:p>
          <a:p>
            <a:pPr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D4D4D8"/>
                </a:solidFill>
                <a:latin typeface="Consolas"/>
              </a:rPr>
              <a:t>defineProps&lt;{ data: { emoji: string; title: string; desc: string } }&gt;()</a:t>
            </a:r>
          </a:p>
          <a:p>
            <a:pPr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FB7185"/>
                </a:solidFill>
                <a:latin typeface="Consolas"/>
              </a:rPr>
              <a:t>&lt;/script&gt;</a:t>
            </a:r>
          </a:p>
          <a:p>
            <a:pPr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D4D4D8"/>
                </a:solidFill>
                <a:latin typeface="Consolas"/>
              </a:rPr>
              <a:t/>
            </a:r>
          </a:p>
          <a:p>
            <a:pPr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FB7185"/>
                </a:solidFill>
                <a:latin typeface="Consolas"/>
              </a:rPr>
              <a:t>&lt;template&gt;</a:t>
            </a:r>
          </a:p>
          <a:p>
            <a:pPr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FB7185"/>
                </a:solidFill>
                <a:latin typeface="Consolas"/>
              </a:rPr>
              <a:t>  &lt;div </a:t>
            </a:r>
            <a:r>
              <a:rPr sz="950">
                <a:solidFill>
                  <a:srgbClr val="818CF8"/>
                </a:solidFill>
                <a:latin typeface="Consolas"/>
              </a:rPr>
              <a:t>class</a:t>
            </a:r>
            <a:r>
              <a:rPr sz="950">
                <a:solidFill>
                  <a:srgbClr val="D4D4D8"/>
                </a:solidFill>
                <a:latin typeface="Consolas"/>
              </a:rPr>
              <a:t>=</a:t>
            </a:r>
            <a:r>
              <a:rPr sz="950">
                <a:solidFill>
                  <a:srgbClr val="34D399"/>
                </a:solidFill>
                <a:latin typeface="Consolas"/>
              </a:rPr>
              <a:t>"custom-card"</a:t>
            </a:r>
            <a:r>
              <a:rPr sz="950">
                <a:solidFill>
                  <a:srgbClr val="FB7185"/>
                </a:solidFill>
                <a:latin typeface="Consolas"/>
              </a:rPr>
              <a:t>&gt;</a:t>
            </a:r>
          </a:p>
          <a:p>
            <a:pPr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64748B"/>
                </a:solidFill>
                <a:latin typeface="Consolas"/>
              </a:rPr>
              <a:t>    &lt;!-- 輸入點放置於上方 --&gt;</a:t>
            </a:r>
          </a:p>
          <a:p>
            <a:pPr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FB7185"/>
                </a:solidFill>
                <a:latin typeface="Consolas"/>
              </a:rPr>
              <a:t>    &lt;Handle </a:t>
            </a:r>
            <a:r>
              <a:rPr sz="950">
                <a:solidFill>
                  <a:srgbClr val="818CF8"/>
                </a:solidFill>
                <a:latin typeface="Consolas"/>
              </a:rPr>
              <a:t>type</a:t>
            </a:r>
            <a:r>
              <a:rPr sz="950">
                <a:solidFill>
                  <a:srgbClr val="D4D4D8"/>
                </a:solidFill>
                <a:latin typeface="Consolas"/>
              </a:rPr>
              <a:t>=</a:t>
            </a:r>
            <a:r>
              <a:rPr sz="950">
                <a:solidFill>
                  <a:srgbClr val="34D399"/>
                </a:solidFill>
                <a:latin typeface="Consolas"/>
              </a:rPr>
              <a:t>"target"</a:t>
            </a:r>
            <a:r>
              <a:rPr sz="950">
                <a:solidFill>
                  <a:srgbClr val="D4D4D8"/>
                </a:solidFill>
                <a:latin typeface="Consolas"/>
              </a:rPr>
              <a:t> </a:t>
            </a:r>
            <a:r>
              <a:rPr sz="950">
                <a:solidFill>
                  <a:srgbClr val="818CF8"/>
                </a:solidFill>
                <a:latin typeface="Consolas"/>
              </a:rPr>
              <a:t>:position</a:t>
            </a:r>
            <a:r>
              <a:rPr sz="950">
                <a:solidFill>
                  <a:srgbClr val="D4D4D8"/>
                </a:solidFill>
                <a:latin typeface="Consolas"/>
              </a:rPr>
              <a:t>=</a:t>
            </a:r>
            <a:r>
              <a:rPr sz="950">
                <a:solidFill>
                  <a:srgbClr val="34D399"/>
                </a:solidFill>
                <a:latin typeface="Consolas"/>
              </a:rPr>
              <a:t>"Position.Top"</a:t>
            </a:r>
            <a:r>
              <a:rPr sz="950">
                <a:solidFill>
                  <a:srgbClr val="FB7185"/>
                </a:solidFill>
                <a:latin typeface="Consolas"/>
              </a:rPr>
              <a:t> /&gt;</a:t>
            </a:r>
          </a:p>
          <a:p>
            <a:pPr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D4D4D8"/>
                </a:solidFill>
                <a:latin typeface="Consolas"/>
              </a:rPr>
              <a:t>    </a:t>
            </a:r>
            <a:r>
              <a:rPr sz="950">
                <a:solidFill>
                  <a:srgbClr val="FB7185"/>
                </a:solidFill>
                <a:latin typeface="Consolas"/>
              </a:rPr>
              <a:t>&lt;span class="emoji"&gt;{{ data.emoji }}&lt;/span&gt;</a:t>
            </a:r>
          </a:p>
          <a:p>
            <a:pPr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D4D4D8"/>
                </a:solidFill>
                <a:latin typeface="Consolas"/>
              </a:rPr>
              <a:t>    </a:t>
            </a:r>
            <a:r>
              <a:rPr sz="950">
                <a:solidFill>
                  <a:srgbClr val="FB7185"/>
                </a:solidFill>
                <a:latin typeface="Consolas"/>
              </a:rPr>
              <a:t>&lt;div class="title"&gt;{{ data.title }}&lt;/div&gt;</a:t>
            </a:r>
          </a:p>
          <a:p>
            <a:pPr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64748B"/>
                </a:solidFill>
                <a:latin typeface="Consolas"/>
              </a:rPr>
              <a:t>    &lt;!-- 輸出點放置於下方 --&gt;</a:t>
            </a:r>
          </a:p>
          <a:p>
            <a:pPr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FB7185"/>
                </a:solidFill>
                <a:latin typeface="Consolas"/>
              </a:rPr>
              <a:t>    &lt;Handle </a:t>
            </a:r>
            <a:r>
              <a:rPr sz="950">
                <a:solidFill>
                  <a:srgbClr val="818CF8"/>
                </a:solidFill>
                <a:latin typeface="Consolas"/>
              </a:rPr>
              <a:t>type</a:t>
            </a:r>
            <a:r>
              <a:rPr sz="950">
                <a:solidFill>
                  <a:srgbClr val="D4D4D8"/>
                </a:solidFill>
                <a:latin typeface="Consolas"/>
              </a:rPr>
              <a:t>=</a:t>
            </a:r>
            <a:r>
              <a:rPr sz="950">
                <a:solidFill>
                  <a:srgbClr val="34D399"/>
                </a:solidFill>
                <a:latin typeface="Consolas"/>
              </a:rPr>
              <a:t>"source"</a:t>
            </a:r>
            <a:r>
              <a:rPr sz="950">
                <a:solidFill>
                  <a:srgbClr val="D4D4D8"/>
                </a:solidFill>
                <a:latin typeface="Consolas"/>
              </a:rPr>
              <a:t> </a:t>
            </a:r>
            <a:r>
              <a:rPr sz="950">
                <a:solidFill>
                  <a:srgbClr val="818CF8"/>
                </a:solidFill>
                <a:latin typeface="Consolas"/>
              </a:rPr>
              <a:t>:position</a:t>
            </a:r>
            <a:r>
              <a:rPr sz="950">
                <a:solidFill>
                  <a:srgbClr val="D4D4D8"/>
                </a:solidFill>
                <a:latin typeface="Consolas"/>
              </a:rPr>
              <a:t>=</a:t>
            </a:r>
            <a:r>
              <a:rPr sz="950">
                <a:solidFill>
                  <a:srgbClr val="34D399"/>
                </a:solidFill>
                <a:latin typeface="Consolas"/>
              </a:rPr>
              <a:t>"Position.Bottom"</a:t>
            </a:r>
            <a:r>
              <a:rPr sz="950">
                <a:solidFill>
                  <a:srgbClr val="FB7185"/>
                </a:solidFill>
                <a:latin typeface="Consolas"/>
              </a:rPr>
              <a:t> /&gt;</a:t>
            </a:r>
          </a:p>
          <a:p>
            <a:pPr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FB7185"/>
                </a:solidFill>
                <a:latin typeface="Consolas"/>
              </a:rPr>
              <a:t>  &lt;/div&gt;</a:t>
            </a:r>
          </a:p>
          <a:p>
            <a:pPr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FB7185"/>
                </a:solidFill>
                <a:latin typeface="Consolas"/>
              </a:rPr>
              <a:t>&lt;/template&gt;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201168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spcAft>
                <a:spcPts val="300"/>
              </a:spcAft>
            </a:pPr>
            <a:r>
              <a:rPr sz="1500">
                <a:solidFill>
                  <a:srgbClr val="10B981"/>
                </a:solidFill>
              </a:rPr>
              <a:t>🔵  </a:t>
            </a:r>
            <a:r>
              <a:rPr sz="1500" b="1">
                <a:solidFill>
                  <a:srgbClr val="F8FAFC"/>
                </a:solidFill>
              </a:rPr>
              <a:t>引入 Handle 元件</a:t>
            </a:r>
            <a:r>
              <a:rPr sz="1350">
                <a:solidFill>
                  <a:srgbClr val="94A3B8"/>
                </a:solidFill>
              </a:rPr>
              <a:t>  —  Handle 是連線的出入口。type 可設定為 target (輸入端) 或 source (輸出端)。</a:t>
            </a:r>
          </a:p>
          <a:p>
            <a:pPr>
              <a:spcBef>
                <a:spcPts val="500"/>
              </a:spcBef>
              <a:spcAft>
                <a:spcPts val="300"/>
              </a:spcAft>
            </a:pPr>
            <a:r>
              <a:rPr sz="1500">
                <a:solidFill>
                  <a:srgbClr val="10B981"/>
                </a:solidFill>
              </a:rPr>
              <a:t>🧭  </a:t>
            </a:r>
            <a:r>
              <a:rPr sz="1500" b="1">
                <a:solidFill>
                  <a:srgbClr val="F8FAFC"/>
                </a:solidFill>
              </a:rPr>
              <a:t>Position 定位設定</a:t>
            </a:r>
            <a:r>
              <a:rPr sz="1350">
                <a:solidFill>
                  <a:srgbClr val="94A3B8"/>
                </a:solidFill>
              </a:rPr>
              <a:t>  —  藉由 Position.Top, Position.Bottom, Position.Left, Position.Right 來決定連接孔在卡片上的方位。</a:t>
            </a:r>
          </a:p>
          <a:p>
            <a:pPr>
              <a:spcBef>
                <a:spcPts val="500"/>
              </a:spcBef>
              <a:spcAft>
                <a:spcPts val="300"/>
              </a:spcAft>
            </a:pPr>
            <a:r>
              <a:rPr sz="1500">
                <a:solidFill>
                  <a:srgbClr val="10B981"/>
                </a:solidFill>
              </a:rPr>
              <a:t>🎨  </a:t>
            </a:r>
            <a:r>
              <a:rPr sz="1500" b="1">
                <a:solidFill>
                  <a:srgbClr val="F8FAFC"/>
                </a:solidFill>
              </a:rPr>
              <a:t>高度彈性的客製卡片</a:t>
            </a:r>
            <a:r>
              <a:rPr sz="1350">
                <a:solidFill>
                  <a:srgbClr val="94A3B8"/>
                </a:solidFill>
              </a:rPr>
              <a:t>  —  在 &lt;template&gt; 中可以編寫任何自訂 HTML，甚至置入表單或交互按鈕，完全取代原生外觀。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B981"/>
                </a:solidFill>
                <a:latin typeface="Calibri"/>
              </a:defRPr>
            </a:pPr>
            <a:r>
              <a:t>04  NODE REGISTRATION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8FAFC"/>
                </a:solidFill>
                <a:latin typeface="Calibri"/>
              </a:defRPr>
            </a:pPr>
            <a:r>
              <a:t>元件註冊與 markRaw 效能優化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109728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920240"/>
            <a:ext cx="5669280" cy="4297680"/>
          </a:xfrm>
          <a:prstGeom prst="roundRect">
            <a:avLst>
              <a:gd name="adj" fmla="val 5000"/>
            </a:avLst>
          </a:prstGeom>
          <a:solidFill>
            <a:srgbClr val="0B0F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64748B"/>
                </a:solidFill>
                <a:latin typeface="Consolas"/>
              </a:rPr>
              <a:t>&lt;!-- App.vue --&gt;</a:t>
            </a:r>
          </a:p>
          <a:p>
            <a:pPr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FB7185"/>
                </a:solidFill>
                <a:latin typeface="Consolas"/>
              </a:rPr>
              <a:t>&lt;script setup lang="ts"&gt;</a:t>
            </a:r>
          </a:p>
          <a:p>
            <a:pPr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C084FC"/>
                </a:solidFill>
                <a:latin typeface="Consolas"/>
              </a:rPr>
              <a:t>import</a:t>
            </a:r>
            <a:r>
              <a:rPr sz="950">
                <a:solidFill>
                  <a:srgbClr val="D4D4D8"/>
                </a:solidFill>
                <a:latin typeface="Consolas"/>
              </a:rPr>
              <a:t> { ref, markRaw } from </a:t>
            </a:r>
            <a:r>
              <a:rPr sz="950">
                <a:solidFill>
                  <a:srgbClr val="34D399"/>
                </a:solidFill>
                <a:latin typeface="Consolas"/>
              </a:rPr>
              <a:t>'vue'</a:t>
            </a:r>
          </a:p>
          <a:p>
            <a:pPr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C084FC"/>
                </a:solidFill>
                <a:latin typeface="Consolas"/>
              </a:rPr>
              <a:t>import</a:t>
            </a:r>
            <a:r>
              <a:rPr sz="950">
                <a:solidFill>
                  <a:srgbClr val="D4D4D8"/>
                </a:solidFill>
                <a:latin typeface="Consolas"/>
              </a:rPr>
              <a:t> { VueFlow } from </a:t>
            </a:r>
            <a:r>
              <a:rPr sz="950">
                <a:solidFill>
                  <a:srgbClr val="34D399"/>
                </a:solidFill>
                <a:latin typeface="Consolas"/>
              </a:rPr>
              <a:t>'@vue-flow/core'</a:t>
            </a:r>
          </a:p>
          <a:p>
            <a:pPr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C084FC"/>
                </a:solidFill>
                <a:latin typeface="Consolas"/>
              </a:rPr>
              <a:t>import</a:t>
            </a:r>
            <a:r>
              <a:rPr sz="950">
                <a:solidFill>
                  <a:srgbClr val="D4D4D8"/>
                </a:solidFill>
                <a:latin typeface="Consolas"/>
              </a:rPr>
              <a:t> SimpleCustomNode from </a:t>
            </a:r>
            <a:r>
              <a:rPr sz="950">
                <a:solidFill>
                  <a:srgbClr val="34D399"/>
                </a:solidFill>
                <a:latin typeface="Consolas"/>
              </a:rPr>
              <a:t>'./components/SimpleCustomNode.vue'</a:t>
            </a:r>
          </a:p>
          <a:p>
            <a:pPr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D4D4D8"/>
                </a:solidFill>
                <a:latin typeface="Consolas"/>
              </a:rPr>
              <a:t/>
            </a:r>
          </a:p>
          <a:p>
            <a:pPr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64748B"/>
                </a:solidFill>
                <a:latin typeface="Consolas"/>
              </a:rPr>
              <a:t>/* ⚠️ 必須使用 markRaw 包裹以防止 Vue 深度 proxy 監聽，提升效能 */</a:t>
            </a:r>
          </a:p>
          <a:p>
            <a:pPr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C084FC"/>
                </a:solidFill>
                <a:latin typeface="Consolas"/>
              </a:rPr>
              <a:t>const</a:t>
            </a:r>
            <a:r>
              <a:rPr sz="950">
                <a:solidFill>
                  <a:srgbClr val="D4D4D8"/>
                </a:solidFill>
                <a:latin typeface="Consolas"/>
              </a:rPr>
              <a:t> nodeTypes = {</a:t>
            </a:r>
          </a:p>
          <a:p>
            <a:pPr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D4D4D8"/>
                </a:solidFill>
                <a:latin typeface="Consolas"/>
              </a:rPr>
              <a:t>  'simple-custom': markRaw(SimpleCustomNode),</a:t>
            </a:r>
          </a:p>
          <a:p>
            <a:pPr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D4D4D8"/>
                </a:solidFill>
                <a:latin typeface="Consolas"/>
              </a:rPr>
              <a:t>}</a:t>
            </a:r>
          </a:p>
          <a:p>
            <a:pPr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FB7185"/>
                </a:solidFill>
                <a:latin typeface="Consolas"/>
              </a:rPr>
              <a:t>&lt;/script&gt;</a:t>
            </a:r>
          </a:p>
          <a:p>
            <a:pPr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D4D4D8"/>
                </a:solidFill>
                <a:latin typeface="Consolas"/>
              </a:rPr>
              <a:t/>
            </a:r>
          </a:p>
          <a:p>
            <a:pPr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FB7185"/>
                </a:solidFill>
                <a:latin typeface="Consolas"/>
              </a:rPr>
              <a:t>&lt;template&gt;</a:t>
            </a:r>
          </a:p>
          <a:p>
            <a:pPr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FB7185"/>
                </a:solidFill>
                <a:latin typeface="Consolas"/>
              </a:rPr>
              <a:t>  &lt;VueFlow </a:t>
            </a:r>
            <a:r>
              <a:rPr sz="950">
                <a:solidFill>
                  <a:srgbClr val="818CF8"/>
                </a:solidFill>
                <a:latin typeface="Consolas"/>
              </a:rPr>
              <a:t>:node-types</a:t>
            </a:r>
            <a:r>
              <a:rPr sz="950">
                <a:solidFill>
                  <a:srgbClr val="D4D4D8"/>
                </a:solidFill>
                <a:latin typeface="Consolas"/>
              </a:rPr>
              <a:t>=</a:t>
            </a:r>
            <a:r>
              <a:rPr sz="950">
                <a:solidFill>
                  <a:srgbClr val="34D399"/>
                </a:solidFill>
                <a:latin typeface="Consolas"/>
              </a:rPr>
              <a:t>"nodeTypes"</a:t>
            </a:r>
            <a:r>
              <a:rPr sz="950">
                <a:solidFill>
                  <a:srgbClr val="FB7185"/>
                </a:solidFill>
                <a:latin typeface="Consolas"/>
              </a:rPr>
              <a:t> ... /&gt;</a:t>
            </a:r>
          </a:p>
          <a:p>
            <a:pPr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FB7185"/>
                </a:solidFill>
                <a:latin typeface="Consolas"/>
              </a:rPr>
              <a:t>&lt;/template&gt;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201168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spcAft>
                <a:spcPts val="300"/>
              </a:spcAft>
            </a:pPr>
            <a:r>
              <a:rPr sz="1450">
                <a:solidFill>
                  <a:srgbClr val="10B981"/>
                </a:solidFill>
              </a:rPr>
              <a:t>⚠️  </a:t>
            </a:r>
            <a:r>
              <a:rPr sz="1450" b="1">
                <a:solidFill>
                  <a:srgbClr val="F8FAFC"/>
                </a:solidFill>
              </a:rPr>
              <a:t>效能關鍵：markRaw()</a:t>
            </a:r>
            <a:r>
              <a:rPr sz="1300">
                <a:solidFill>
                  <a:srgbClr val="94A3B8"/>
                </a:solidFill>
              </a:rPr>
              <a:t>  —  Vue 3 預設會遞迴地將所有 reactive 變數轉為 Proxy。若不使用 markRaw，Vue Flow 內部的節點實例會被頻繁 Proxy 處理，導致拖拽時嚴重卡頓與效能損耗。</a:t>
            </a:r>
          </a:p>
          <a:p>
            <a:pPr>
              <a:spcBef>
                <a:spcPts val="500"/>
              </a:spcBef>
              <a:spcAft>
                <a:spcPts val="300"/>
              </a:spcAft>
            </a:pPr>
            <a:r>
              <a:rPr sz="1450">
                <a:solidFill>
                  <a:srgbClr val="10B981"/>
                </a:solidFill>
              </a:rPr>
              <a:t>🏷️  </a:t>
            </a:r>
            <a:r>
              <a:rPr sz="1450" b="1">
                <a:solidFill>
                  <a:srgbClr val="F8FAFC"/>
                </a:solidFill>
              </a:rPr>
              <a:t>自訂 nodeTypes 對應</a:t>
            </a:r>
            <a:r>
              <a:rPr sz="1300">
                <a:solidFill>
                  <a:srgbClr val="94A3B8"/>
                </a:solidFill>
              </a:rPr>
              <a:t>  —  以 key-value 形式對應自訂名稱與元件。在 initial-elements.ts 中只需宣告 type: 'simple-custom' 即可。</a:t>
            </a:r>
          </a:p>
          <a:p>
            <a:pPr>
              <a:spcBef>
                <a:spcPts val="500"/>
              </a:spcBef>
              <a:spcAft>
                <a:spcPts val="300"/>
              </a:spcAft>
            </a:pPr>
            <a:r>
              <a:rPr sz="1450">
                <a:solidFill>
                  <a:srgbClr val="10B981"/>
                </a:solidFill>
              </a:rPr>
              <a:t>⚡  </a:t>
            </a:r>
            <a:r>
              <a:rPr sz="1450" b="1">
                <a:solidFill>
                  <a:srgbClr val="F8FAFC"/>
                </a:solidFill>
              </a:rPr>
              <a:t>資料傳遞方式</a:t>
            </a:r>
            <a:r>
              <a:rPr sz="1300">
                <a:solidFill>
                  <a:srgbClr val="94A3B8"/>
                </a:solidFill>
              </a:rPr>
              <a:t>  —  在 nodes 資料定義中的 data 欄位，會自動作為 props 被傳遞至自定義元件內部。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B981"/>
                </a:solidFill>
                <a:latin typeface="Calibri"/>
              </a:defRPr>
            </a:pPr>
            <a:r>
              <a:t>05  CONNECTIONS &amp; PLUGINS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8FAFC"/>
                </a:solidFill>
                <a:latin typeface="Calibri"/>
              </a:defRPr>
            </a:pPr>
            <a:r>
              <a:t>連線處理與三大實用外掛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109728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920240"/>
            <a:ext cx="5669280" cy="4297680"/>
          </a:xfrm>
          <a:prstGeom prst="roundRect">
            <a:avLst>
              <a:gd name="adj" fmla="val 5000"/>
            </a:avLst>
          </a:prstGeom>
          <a:solidFill>
            <a:srgbClr val="0B0F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64748B"/>
                </a:solidFill>
                <a:latin typeface="Consolas"/>
              </a:rPr>
              <a:t>/* App.vue - @connect 事件處理 */</a:t>
            </a:r>
          </a:p>
          <a:p>
            <a:pPr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C084FC"/>
                </a:solidFill>
                <a:latin typeface="Consolas"/>
              </a:rPr>
              <a:t>const</a:t>
            </a:r>
            <a:r>
              <a:rPr sz="950">
                <a:solidFill>
                  <a:srgbClr val="D4D4D8"/>
                </a:solidFill>
                <a:latin typeface="Consolas"/>
              </a:rPr>
              <a:t> onConnect = (connection) =&gt; {</a:t>
            </a:r>
          </a:p>
          <a:p>
            <a:pPr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64748B"/>
                </a:solidFill>
                <a:latin typeface="Consolas"/>
              </a:rPr>
              <a:t>  // 當使用者在節點間拉出連線時，將新連線推入 edges 陣列</a:t>
            </a:r>
          </a:p>
          <a:p>
            <a:pPr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D4D4D8"/>
                </a:solidFill>
                <a:latin typeface="Consolas"/>
              </a:rPr>
              <a:t>  edges.value.push({</a:t>
            </a:r>
          </a:p>
          <a:p>
            <a:pPr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D4D4D8"/>
                </a:solidFill>
                <a:latin typeface="Consolas"/>
              </a:rPr>
              <a:t>    id: </a:t>
            </a:r>
            <a:r>
              <a:rPr sz="950">
                <a:solidFill>
                  <a:srgbClr val="34D399"/>
                </a:solidFill>
                <a:latin typeface="Consolas"/>
              </a:rPr>
              <a:t>`e-${connection.source}-${connection.target}`</a:t>
            </a:r>
            <a:r>
              <a:rPr sz="950">
                <a:solidFill>
                  <a:srgbClr val="D4D4D8"/>
                </a:solidFill>
                <a:latin typeface="Consolas"/>
              </a:rPr>
              <a:t>,</a:t>
            </a:r>
          </a:p>
          <a:p>
            <a:pPr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D4D4D8"/>
                </a:solidFill>
                <a:latin typeface="Consolas"/>
              </a:rPr>
              <a:t>    source: connection.source,</a:t>
            </a:r>
          </a:p>
          <a:p>
            <a:pPr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D4D4D8"/>
                </a:solidFill>
                <a:latin typeface="Consolas"/>
              </a:rPr>
              <a:t>    target: connection.target,</a:t>
            </a:r>
          </a:p>
          <a:p>
            <a:pPr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D4D4D8"/>
                </a:solidFill>
                <a:latin typeface="Consolas"/>
              </a:rPr>
              <a:t>    animated: </a:t>
            </a:r>
            <a:r>
              <a:rPr sz="950">
                <a:solidFill>
                  <a:srgbClr val="C084FC"/>
                </a:solidFill>
                <a:latin typeface="Consolas"/>
              </a:rPr>
              <a:t>true</a:t>
            </a:r>
            <a:r>
              <a:rPr sz="950">
                <a:solidFill>
                  <a:srgbClr val="D4D4D8"/>
                </a:solidFill>
                <a:latin typeface="Consolas"/>
              </a:rPr>
              <a:t>,</a:t>
            </a:r>
          </a:p>
          <a:p>
            <a:pPr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D4D4D8"/>
                </a:solidFill>
                <a:latin typeface="Consolas"/>
              </a:rPr>
              <a:t>    style: { stroke: </a:t>
            </a:r>
            <a:r>
              <a:rPr sz="950">
                <a:solidFill>
                  <a:srgbClr val="34D399"/>
                </a:solidFill>
                <a:latin typeface="Consolas"/>
              </a:rPr>
              <a:t>'#10b981'</a:t>
            </a:r>
            <a:r>
              <a:rPr sz="950">
                <a:solidFill>
                  <a:srgbClr val="D4D4D8"/>
                </a:solidFill>
                <a:latin typeface="Consolas"/>
              </a:rPr>
              <a:t> },</a:t>
            </a:r>
          </a:p>
          <a:p>
            <a:pPr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D4D4D8"/>
                </a:solidFill>
                <a:latin typeface="Consolas"/>
              </a:rPr>
              <a:t>  })</a:t>
            </a:r>
          </a:p>
          <a:p>
            <a:pPr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D4D4D8"/>
                </a:solidFill>
                <a:latin typeface="Consolas"/>
              </a:rPr>
              <a:t>}</a:t>
            </a:r>
          </a:p>
          <a:p>
            <a:pPr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D4D4D8"/>
                </a:solidFill>
                <a:latin typeface="Consolas"/>
              </a:rPr>
              <a:t/>
            </a:r>
          </a:p>
          <a:p>
            <a:pPr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64748B"/>
                </a:solidFill>
                <a:latin typeface="Consolas"/>
              </a:rPr>
              <a:t>&lt;!-- Template 整合外掛 --&gt;</a:t>
            </a:r>
          </a:p>
          <a:p>
            <a:pPr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FB7185"/>
                </a:solidFill>
                <a:latin typeface="Consolas"/>
              </a:rPr>
              <a:t>&lt;VueFlow :nodes :edges :node-types="nodeTypes" @connect="onConnect"&gt;</a:t>
            </a:r>
          </a:p>
          <a:p>
            <a:pPr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FB7185"/>
                </a:solidFill>
                <a:latin typeface="Consolas"/>
              </a:rPr>
              <a:t>  &lt;Background :gap="20" /&gt;</a:t>
            </a:r>
          </a:p>
          <a:p>
            <a:pPr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FB7185"/>
                </a:solidFill>
                <a:latin typeface="Consolas"/>
              </a:rPr>
              <a:t>  &lt;Controls /&gt;</a:t>
            </a:r>
          </a:p>
          <a:p>
            <a:pPr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FB7185"/>
                </a:solidFill>
                <a:latin typeface="Consolas"/>
              </a:rPr>
              <a:t>  &lt;MiniMap /&gt;</a:t>
            </a:r>
          </a:p>
          <a:p>
            <a:pPr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FB7185"/>
                </a:solidFill>
                <a:latin typeface="Consolas"/>
              </a:rPr>
              <a:t>&lt;/VueFlow&gt;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201168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spcAft>
                <a:spcPts val="300"/>
              </a:spcAft>
            </a:pPr>
            <a:r>
              <a:rPr sz="1400">
                <a:solidFill>
                  <a:srgbClr val="10B981"/>
                </a:solidFill>
              </a:rPr>
              <a:t>🤝  </a:t>
            </a:r>
            <a:r>
              <a:rPr sz="1400" b="1">
                <a:solidFill>
                  <a:srgbClr val="F8FAFC"/>
                </a:solidFill>
              </a:rPr>
              <a:t>@connect 連線捕獲</a:t>
            </a:r>
            <a:r>
              <a:rPr sz="1250">
                <a:solidFill>
                  <a:srgbClr val="94A3B8"/>
                </a:solidFill>
              </a:rPr>
              <a:t>  —  當滑鼠完成拖曳拉線，接收 Connection (含 source, target)，建立真正的 Edge 並推入 edges 響應式陣列。</a:t>
            </a:r>
          </a:p>
          <a:p>
            <a:pPr>
              <a:spcBef>
                <a:spcPts val="500"/>
              </a:spcBef>
              <a:spcAft>
                <a:spcPts val="300"/>
              </a:spcAft>
            </a:pPr>
            <a:r>
              <a:rPr sz="1400">
                <a:solidFill>
                  <a:srgbClr val="10B981"/>
                </a:solidFill>
              </a:rPr>
              <a:t>🏁  </a:t>
            </a:r>
            <a:r>
              <a:rPr sz="1400" b="1">
                <a:solidFill>
                  <a:srgbClr val="F8FAFC"/>
                </a:solidFill>
              </a:rPr>
              <a:t>Background 背景網格</a:t>
            </a:r>
            <a:r>
              <a:rPr sz="1250">
                <a:solidFill>
                  <a:srgbClr val="94A3B8"/>
                </a:solidFill>
              </a:rPr>
              <a:t>  —  提供背景參考線，並能自訂網格點（gap）與自訂背景顏色。</a:t>
            </a:r>
          </a:p>
          <a:p>
            <a:pPr>
              <a:spcBef>
                <a:spcPts val="500"/>
              </a:spcBef>
              <a:spcAft>
                <a:spcPts val="300"/>
              </a:spcAft>
            </a:pPr>
            <a:r>
              <a:rPr sz="1400">
                <a:solidFill>
                  <a:srgbClr val="10B981"/>
                </a:solidFill>
              </a:rPr>
              <a:t>🎮  </a:t>
            </a:r>
            <a:r>
              <a:rPr sz="1400" b="1">
                <a:solidFill>
                  <a:srgbClr val="F8FAFC"/>
                </a:solidFill>
              </a:rPr>
              <a:t>Controls 縮放控制</a:t>
            </a:r>
            <a:r>
              <a:rPr sz="1250">
                <a:solidFill>
                  <a:srgbClr val="94A3B8"/>
                </a:solidFill>
              </a:rPr>
              <a:t>  —  提供快捷功能，包含 Zoom in/out、適配畫面大小 (fitView) 以及防誤觸鎖定功能。</a:t>
            </a:r>
          </a:p>
          <a:p>
            <a:pPr>
              <a:spcBef>
                <a:spcPts val="500"/>
              </a:spcBef>
              <a:spcAft>
                <a:spcPts val="300"/>
              </a:spcAft>
            </a:pPr>
            <a:r>
              <a:rPr sz="1400">
                <a:solidFill>
                  <a:srgbClr val="10B981"/>
                </a:solidFill>
              </a:rPr>
              <a:t>🗺️  </a:t>
            </a:r>
            <a:r>
              <a:rPr sz="1400" b="1">
                <a:solidFill>
                  <a:srgbClr val="F8FAFC"/>
                </a:solidFill>
              </a:rPr>
              <a:t>MiniMap 鷹眼地圖</a:t>
            </a:r>
            <a:r>
              <a:rPr sz="1250">
                <a:solidFill>
                  <a:srgbClr val="94A3B8"/>
                </a:solidFill>
              </a:rPr>
              <a:t>  —  在右下角提供流程圖的全局微縮圖，以便在大規模節點中進行快速定位。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