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0B981"/>
                </a:solidFill>
                <a:latin typeface="Calibri"/>
              </a:defRPr>
            </a:pPr>
            <a:r>
              <a:t>Vue Flow 簡易上手指南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  <a:latin typeface="Calibri"/>
              </a:defRPr>
            </a:pPr>
            <a:r>
              <a:t>包含自定義節點的互動流程圖開發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使用 @vue-flow/core 實作極簡的有向圖與流程圖</a:t>
            </a:r>
            <a:br/>
            <a:r>
              <a:t>本教學專注於內建三種節點、自定義節點與基本動態連線邏輯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9377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Vue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9377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Calibri"/>
              </a:rPr>
              <a:t>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9377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366F1"/>
                </a:solidFill>
                <a:latin typeface="Calibri"/>
              </a:rPr>
              <a:t>Vue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01  VUE FLOW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核心概念與內建節點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📍  </a:t>
            </a:r>
            <a:r>
              <a:rPr sz="1500" b="1">
                <a:solidFill>
                  <a:srgbClr val="F8FAFC"/>
                </a:solidFill>
              </a:rPr>
              <a:t>Nodes (節點)</a:t>
            </a:r>
            <a:r>
              <a:rPr sz="1350">
                <a:solidFill>
                  <a:srgbClr val="94A3B8"/>
                </a:solidFill>
              </a:rPr>
              <a:t>  —  流程圖中的方塊，包含 id, position (座標), label (標籤), type (類型)。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⚡  </a:t>
            </a:r>
            <a:r>
              <a:rPr sz="1500" b="1">
                <a:solidFill>
                  <a:srgbClr val="F8FAFC"/>
                </a:solidFill>
              </a:rPr>
              <a:t>Edges (連線/邊)</a:t>
            </a:r>
            <a:r>
              <a:rPr sz="1350">
                <a:solidFill>
                  <a:srgbClr val="94A3B8"/>
                </a:solidFill>
              </a:rPr>
              <a:t>  —  連接著兩個節點的有向線段。具有 source 來源與 target 目標節點 id。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🔵  </a:t>
            </a:r>
            <a:r>
              <a:rPr sz="1500" b="1">
                <a:solidFill>
                  <a:srgbClr val="F8FAFC"/>
                </a:solidFill>
              </a:rPr>
              <a:t>Handles (連接點)</a:t>
            </a:r>
            <a:r>
              <a:rPr sz="1350">
                <a:solidFill>
                  <a:srgbClr val="94A3B8"/>
                </a:solidFill>
              </a:rPr>
              <a:t>  —  節點上的插座。有 target (輸入) 與 source (輸出) 兩種型態。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三種官方內建節點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🟢  </a:t>
            </a:r>
            <a:r>
              <a:rPr sz="1400" b="1">
                <a:solidFill>
                  <a:srgbClr val="F8FAFC"/>
                </a:solidFill>
              </a:rPr>
              <a:t>input (輸入節點)</a:t>
            </a:r>
            <a:r>
              <a:rPr sz="1250">
                <a:solidFill>
                  <a:srgbClr val="94A3B8"/>
                </a:solidFill>
              </a:rPr>
              <a:t>  —  僅具備 source 輸出連接孔，常用作工作流起始點。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🔵  </a:t>
            </a:r>
            <a:r>
              <a:rPr sz="1400" b="1">
                <a:solidFill>
                  <a:srgbClr val="F8FAFC"/>
                </a:solidFill>
              </a:rPr>
              <a:t>default (預設節點)</a:t>
            </a:r>
            <a:r>
              <a:rPr sz="1250">
                <a:solidFill>
                  <a:srgbClr val="94A3B8"/>
                </a:solidFill>
              </a:rPr>
              <a:t>  —  具備 input 與 output 兩端點，用於流程的中繼站。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🔴  </a:t>
            </a:r>
            <a:r>
              <a:rPr sz="1400" b="1">
                <a:solidFill>
                  <a:srgbClr val="F8FAFC"/>
                </a:solidFill>
              </a:rPr>
              <a:t>output (輸出節點)</a:t>
            </a:r>
            <a:r>
              <a:rPr sz="1250">
                <a:solidFill>
                  <a:srgbClr val="94A3B8"/>
                </a:solidFill>
              </a:rPr>
              <a:t>  —  僅具備 target 輸入連接孔，常用作工作流終點。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02  QUICK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環境配置與快速啟用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1️⃣  </a:t>
            </a:r>
            <a:r>
              <a:rPr sz="1500" b="1">
                <a:solidFill>
                  <a:srgbClr val="F8FAFC"/>
                </a:solidFill>
              </a:rPr>
              <a:t>安裝依賴</a:t>
            </a:r>
            <a:r>
              <a:rPr sz="1350">
                <a:solidFill>
                  <a:srgbClr val="94A3B8"/>
                </a:solidFill>
              </a:rPr>
              <a:t>  —  npm i @vue-flow/core @vue-flow/background @vue-flow/controls @vue-flow/minimap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2️⃣  </a:t>
            </a:r>
            <a:r>
              <a:rPr sz="1500" b="1">
                <a:solidFill>
                  <a:srgbClr val="F8FAFC"/>
                </a:solidFill>
              </a:rPr>
              <a:t>畫布容器</a:t>
            </a:r>
            <a:r>
              <a:rPr sz="1350">
                <a:solidFill>
                  <a:srgbClr val="94A3B8"/>
                </a:solidFill>
              </a:rPr>
              <a:t>  —  外層 DOM 容器必須被給予明確的高度 (如 100vh)，否則 Vue Flow 內部無法完成定位計算。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3️⃣  </a:t>
            </a:r>
            <a:r>
              <a:rPr sz="1500" b="1">
                <a:solidFill>
                  <a:srgbClr val="F8FAFC"/>
                </a:solidFill>
              </a:rPr>
              <a:t>樣式載入</a:t>
            </a:r>
            <a:r>
              <a:rPr sz="1350">
                <a:solidFill>
                  <a:srgbClr val="94A3B8"/>
                </a:solidFill>
              </a:rPr>
              <a:t>  —  必須匯入官方提供的 core 與 theme 基礎 CSS 樣式，才能使連接孔與邊線正常定位與呈現。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/* main.ts */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D4D4D8"/>
                </a:solidFill>
                <a:latin typeface="Consolas"/>
              </a:rPr>
              <a:t>{</a:t>
            </a:r>
            <a:r>
              <a:rPr sz="950">
                <a:solidFill>
                  <a:srgbClr val="D4D4D8"/>
                </a:solidFill>
                <a:latin typeface="Consolas"/>
              </a:rPr>
              <a:t> createApp </a:t>
            </a:r>
            <a:r>
              <a:rPr sz="950">
                <a:solidFill>
                  <a:srgbClr val="D4D4D8"/>
                </a:solidFill>
                <a:latin typeface="Consolas"/>
              </a:rPr>
              <a:t>}</a:t>
            </a:r>
            <a:r>
              <a:rPr sz="950">
                <a:solidFill>
                  <a:srgbClr val="C084FC"/>
                </a:solidFill>
                <a:latin typeface="Consolas"/>
              </a:rPr>
              <a:t> from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'vue'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App from </a:t>
            </a:r>
            <a:r>
              <a:rPr sz="950">
                <a:solidFill>
                  <a:srgbClr val="34D399"/>
                </a:solidFill>
                <a:latin typeface="Consolas"/>
              </a:rPr>
              <a:t>'./App.vue'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/* 1. 載入 Vue Flow 核心與外掛 CSS 樣式 */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'@vue-flow/core/dist/style.css'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'@vue-flow/core/dist/theme-default.css'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'@vue-flow/controls/dist/style.css'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'@vue-flow/minimap/dist/style.css'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/* 2. 導入自訂樣式覆寫 */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'./style.css'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createApp(App).mount(</a:t>
            </a:r>
            <a:r>
              <a:rPr sz="950">
                <a:solidFill>
                  <a:srgbClr val="34D399"/>
                </a:solidFill>
                <a:latin typeface="Consolas"/>
              </a:rPr>
              <a:t>'#app'</a:t>
            </a:r>
            <a:r>
              <a:rPr sz="950">
                <a:solidFill>
                  <a:srgbClr val="D4D4D8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03  CUSTOM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編寫 SimpleCustomNode 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669280" cy="4297680"/>
          </a:xfrm>
          <a:prstGeom prst="roundRect">
            <a:avLst>
              <a:gd name="adj" fmla="val 5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&lt;!-- SimpleCustomNode.vue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&lt;script setup lang="ts"&gt;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{ Handle, Position } from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defineProps&lt;{ data: { emoji: string; title: string; desc: string } }&gt;()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&lt;/script&gt;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&lt;template&gt;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&lt;div </a:t>
            </a:r>
            <a:r>
              <a:rPr sz="950">
                <a:solidFill>
                  <a:srgbClr val="818CF8"/>
                </a:solidFill>
                <a:latin typeface="Consolas"/>
              </a:rPr>
              <a:t>class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"custom-card"</a:t>
            </a:r>
            <a:r>
              <a:rPr sz="950">
                <a:solidFill>
                  <a:srgbClr val="FB7185"/>
                </a:solidFill>
                <a:latin typeface="Consolas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    &lt;!-- 輸入點放置於上方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  &lt;Handle </a:t>
            </a:r>
            <a:r>
              <a:rPr sz="950">
                <a:solidFill>
                  <a:srgbClr val="818CF8"/>
                </a:solidFill>
                <a:latin typeface="Consolas"/>
              </a:rPr>
              <a:t>type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"target"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818CF8"/>
                </a:solidFill>
                <a:latin typeface="Consolas"/>
              </a:rPr>
              <a:t>:position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"Position.Top"</a:t>
            </a:r>
            <a:r>
              <a:rPr sz="950">
                <a:solidFill>
                  <a:srgbClr val="FB7185"/>
                </a:solidFill>
                <a:latin typeface="Consolas"/>
              </a:rPr>
              <a:t>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</a:t>
            </a:r>
            <a:r>
              <a:rPr sz="950">
                <a:solidFill>
                  <a:srgbClr val="FB7185"/>
                </a:solidFill>
                <a:latin typeface="Consolas"/>
              </a:rPr>
              <a:t>&lt;span class="emoji"&gt;{{ data.emoji }}&lt;/span&gt;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</a:t>
            </a:r>
            <a:r>
              <a:rPr sz="950">
                <a:solidFill>
                  <a:srgbClr val="FB7185"/>
                </a:solidFill>
                <a:latin typeface="Consolas"/>
              </a:rPr>
              <a:t>&lt;div class="title"&gt;{{ data.title }}&lt;/div&gt;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    &lt;!-- 輸出點放置於下方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  &lt;Handle </a:t>
            </a:r>
            <a:r>
              <a:rPr sz="950">
                <a:solidFill>
                  <a:srgbClr val="818CF8"/>
                </a:solidFill>
                <a:latin typeface="Consolas"/>
              </a:rPr>
              <a:t>type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"source"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818CF8"/>
                </a:solidFill>
                <a:latin typeface="Consolas"/>
              </a:rPr>
              <a:t>:position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"Position.Bottom"</a:t>
            </a:r>
            <a:r>
              <a:rPr sz="950">
                <a:solidFill>
                  <a:srgbClr val="FB7185"/>
                </a:solidFill>
                <a:latin typeface="Consolas"/>
              </a:rPr>
              <a:t>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&lt;/div&gt;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&lt;/template&gt;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🔵  </a:t>
            </a:r>
            <a:r>
              <a:rPr sz="1500" b="1">
                <a:solidFill>
                  <a:srgbClr val="F8FAFC"/>
                </a:solidFill>
              </a:rPr>
              <a:t>引入 Handle 元件</a:t>
            </a:r>
            <a:r>
              <a:rPr sz="1350">
                <a:solidFill>
                  <a:srgbClr val="94A3B8"/>
                </a:solidFill>
              </a:rPr>
              <a:t>  —  Handle 是連線的出入口。type 可設定為 target (輸入端) 或 source (輸出端)。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🧭  </a:t>
            </a:r>
            <a:r>
              <a:rPr sz="1500" b="1">
                <a:solidFill>
                  <a:srgbClr val="F8FAFC"/>
                </a:solidFill>
              </a:rPr>
              <a:t>Position 定位設定</a:t>
            </a:r>
            <a:r>
              <a:rPr sz="1350">
                <a:solidFill>
                  <a:srgbClr val="94A3B8"/>
                </a:solidFill>
              </a:rPr>
              <a:t>  —  藉由 Position.Top, Position.Bottom, Position.Left, Position.Right 來決定連接孔在卡片上的方位。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10B981"/>
                </a:solidFill>
              </a:rPr>
              <a:t>🎨  </a:t>
            </a:r>
            <a:r>
              <a:rPr sz="1500" b="1">
                <a:solidFill>
                  <a:srgbClr val="F8FAFC"/>
                </a:solidFill>
              </a:rPr>
              <a:t>高度彈性的客製卡片</a:t>
            </a:r>
            <a:r>
              <a:rPr sz="1350">
                <a:solidFill>
                  <a:srgbClr val="94A3B8"/>
                </a:solidFill>
              </a:rPr>
              <a:t>  —  在 &lt;template&gt; 中可以編寫任何自訂 HTML，甚至置入表單或交互按鈕，完全取代原生外觀。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04  DYNAMIC SCOPED 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使用作用域插槽進行自定義渲染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669280" cy="4297680"/>
          </a:xfrm>
          <a:prstGeom prst="roundRect">
            <a:avLst>
              <a:gd name="adj" fmla="val 5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&lt;!-- App.vue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&lt;script setup lang="ts"&gt;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{ ref } from </a:t>
            </a:r>
            <a:r>
              <a:rPr sz="950">
                <a:solidFill>
                  <a:srgbClr val="34D399"/>
                </a:solidFill>
                <a:latin typeface="Consolas"/>
              </a:rPr>
              <a:t>'vue'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{ VueFlow } from </a:t>
            </a:r>
            <a:r>
              <a:rPr sz="95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import</a:t>
            </a:r>
            <a:r>
              <a:rPr sz="950">
                <a:solidFill>
                  <a:srgbClr val="D4D4D8"/>
                </a:solidFill>
                <a:latin typeface="Consolas"/>
              </a:rPr>
              <a:t> SimpleCustomNode from </a:t>
            </a:r>
            <a:r>
              <a:rPr sz="950">
                <a:solidFill>
                  <a:srgbClr val="34D399"/>
                </a:solidFill>
                <a:latin typeface="Consolas"/>
              </a:rPr>
              <a:t>'./components/SimpleCustomNode.vue'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const</a:t>
            </a:r>
            <a:r>
              <a:rPr sz="950">
                <a:solidFill>
                  <a:srgbClr val="D4D4D8"/>
                </a:solidFill>
                <a:latin typeface="Consolas"/>
              </a:rPr>
              <a:t> nodes = ref(initialNodes)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const</a:t>
            </a:r>
            <a:r>
              <a:rPr sz="950">
                <a:solidFill>
                  <a:srgbClr val="D4D4D8"/>
                </a:solidFill>
                <a:latin typeface="Consolas"/>
              </a:rPr>
              <a:t> edges = ref(initialEdges)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&lt;/script&gt;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&lt;template&gt;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&lt;VueFlow </a:t>
            </a:r>
            <a:r>
              <a:rPr sz="950">
                <a:solidFill>
                  <a:srgbClr val="818CF8"/>
                </a:solidFill>
                <a:latin typeface="Consolas"/>
              </a:rPr>
              <a:t>:nodes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"nodes"</a:t>
            </a:r>
            <a:r>
              <a:rPr sz="950">
                <a:solidFill>
                  <a:srgbClr val="D4D4D8"/>
                </a:solidFill>
                <a:latin typeface="Consolas"/>
              </a:rPr>
              <a:t> </a:t>
            </a:r>
            <a:r>
              <a:rPr sz="950">
                <a:solidFill>
                  <a:srgbClr val="818CF8"/>
                </a:solidFill>
                <a:latin typeface="Consolas"/>
              </a:rPr>
              <a:t>:edges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"edges"</a:t>
            </a:r>
            <a:r>
              <a:rPr sz="950">
                <a:solidFill>
                  <a:srgbClr val="FB7185"/>
                </a:solidFill>
                <a:latin typeface="Consolas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    &lt;!-- 💡 使用 #node-&lt;type&gt; 作用域插槽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  &lt;template </a:t>
            </a:r>
            <a:r>
              <a:rPr sz="950">
                <a:solidFill>
                  <a:srgbClr val="818CF8"/>
                </a:solidFill>
                <a:latin typeface="Consolas"/>
              </a:rPr>
              <a:t>#node-simple-custom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"nodeProps"</a:t>
            </a:r>
            <a:r>
              <a:rPr sz="950">
                <a:solidFill>
                  <a:srgbClr val="FB7185"/>
                </a:solidFill>
                <a:latin typeface="Consolas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    &lt;SimpleCustomNode </a:t>
            </a:r>
            <a:r>
              <a:rPr sz="950">
                <a:solidFill>
                  <a:srgbClr val="818CF8"/>
                </a:solidFill>
                <a:latin typeface="Consolas"/>
              </a:rPr>
              <a:t>v-bind</a:t>
            </a:r>
            <a:r>
              <a:rPr sz="950">
                <a:solidFill>
                  <a:srgbClr val="D4D4D8"/>
                </a:solidFill>
                <a:latin typeface="Consolas"/>
              </a:rPr>
              <a:t>=</a:t>
            </a:r>
            <a:r>
              <a:rPr sz="950">
                <a:solidFill>
                  <a:srgbClr val="34D399"/>
                </a:solidFill>
                <a:latin typeface="Consolas"/>
              </a:rPr>
              <a:t>"nodeProps"</a:t>
            </a:r>
            <a:r>
              <a:rPr sz="950">
                <a:solidFill>
                  <a:srgbClr val="FB7185"/>
                </a:solidFill>
                <a:latin typeface="Consolas"/>
              </a:rPr>
              <a:t>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  &lt;/template&gt;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&lt;/VueFlow&gt;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&lt;/template&gt;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50">
                <a:solidFill>
                  <a:srgbClr val="10B981"/>
                </a:solidFill>
              </a:rPr>
              <a:t>💡  </a:t>
            </a:r>
            <a:r>
              <a:rPr sz="1450" b="1">
                <a:solidFill>
                  <a:srgbClr val="F8FAFC"/>
                </a:solidFill>
              </a:rPr>
              <a:t>動態插槽命名規範</a:t>
            </a:r>
            <a:r>
              <a:rPr sz="1300">
                <a:solidFill>
                  <a:srgbClr val="94A3B8"/>
                </a:solidFill>
              </a:rPr>
              <a:t>  —  Vue Flow 為每種節點型態提供了 `#node-&lt;type&gt;` 格式的作用域插槽，方便針對特定節點類型進行個別化定制。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50">
                <a:solidFill>
                  <a:srgbClr val="10B981"/>
                </a:solidFill>
              </a:rPr>
              <a:t>⚡  </a:t>
            </a:r>
            <a:r>
              <a:rPr sz="1450" b="1">
                <a:solidFill>
                  <a:srgbClr val="F8FAFC"/>
                </a:solidFill>
              </a:rPr>
              <a:t>無需手動註冊與 markRaw</a:t>
            </a:r>
            <a:r>
              <a:rPr sz="1300">
                <a:solidFill>
                  <a:srgbClr val="94A3B8"/>
                </a:solidFill>
              </a:rPr>
              <a:t>  —  使用插槽形式直接在 template 引入組件，不再需要於 script 中使用 nodeTypes 註冊或呼叫 markRaw()，代碼更加簡潔。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50">
                <a:solidFill>
                  <a:srgbClr val="10B981"/>
                </a:solidFill>
              </a:rPr>
              <a:t>📦  </a:t>
            </a:r>
            <a:r>
              <a:rPr sz="1450" b="1">
                <a:solidFill>
                  <a:srgbClr val="F8FAFC"/>
                </a:solidFill>
              </a:rPr>
              <a:t>屬性傳遞：v-bind="nodeProps"</a:t>
            </a:r>
            <a:r>
              <a:rPr sz="1300">
                <a:solidFill>
                  <a:srgbClr val="94A3B8"/>
                </a:solidFill>
              </a:rPr>
              <a:t>  —  插槽會傳遞該節點的完整配置與狀態 (如 id, data, selected)，可直接透過 v-bind 轉交給子組件。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05  CONNECTIONS &amp;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連線處理與三大實用外掛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669280" cy="4297680"/>
          </a:xfrm>
          <a:prstGeom prst="roundRect">
            <a:avLst>
              <a:gd name="adj" fmla="val 5000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/* App.vue - @connect 事件處理 */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084FC"/>
                </a:solidFill>
                <a:latin typeface="Consolas"/>
              </a:rPr>
              <a:t>const</a:t>
            </a:r>
            <a:r>
              <a:rPr sz="950">
                <a:solidFill>
                  <a:srgbClr val="D4D4D8"/>
                </a:solidFill>
                <a:latin typeface="Consolas"/>
              </a:rPr>
              <a:t> onConnect = (connection) =&gt; {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  // 當使用者在節點間拉出連線時，將新連線推入 edges 陣列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edges.value.push({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id: </a:t>
            </a:r>
            <a:r>
              <a:rPr sz="950">
                <a:solidFill>
                  <a:srgbClr val="34D399"/>
                </a:solidFill>
                <a:latin typeface="Consolas"/>
              </a:rPr>
              <a:t>`e-${connection.source}-${connection.target}`</a:t>
            </a:r>
            <a:r>
              <a:rPr sz="9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source: connection.source,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target: connection.target,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animated: </a:t>
            </a:r>
            <a:r>
              <a:rPr sz="950">
                <a:solidFill>
                  <a:srgbClr val="C084FC"/>
                </a:solidFill>
                <a:latin typeface="Consolas"/>
              </a:rPr>
              <a:t>true</a:t>
            </a:r>
            <a:r>
              <a:rPr sz="9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  style: { stroke: </a:t>
            </a:r>
            <a:r>
              <a:rPr sz="950">
                <a:solidFill>
                  <a:srgbClr val="34D399"/>
                </a:solidFill>
                <a:latin typeface="Consolas"/>
              </a:rPr>
              <a:t>'#10b981'</a:t>
            </a:r>
            <a:r>
              <a:rPr sz="950">
                <a:solidFill>
                  <a:srgbClr val="D4D4D8"/>
                </a:solidFill>
                <a:latin typeface="Consolas"/>
              </a:rPr>
              <a:t> },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  })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&lt;!-- Template 整合外掛 --&gt;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&lt;VueFlow :nodes :edges :node-types="nodeTypes" @connect="onConnect"&gt;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&lt;Background :gap="20"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&lt;Controls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  &lt;MiniMap /&gt;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B7185"/>
                </a:solidFill>
                <a:latin typeface="Consolas"/>
              </a:rPr>
              <a:t>&lt;/VueFlow&gt;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🤝  </a:t>
            </a:r>
            <a:r>
              <a:rPr sz="1400" b="1">
                <a:solidFill>
                  <a:srgbClr val="F8FAFC"/>
                </a:solidFill>
              </a:rPr>
              <a:t>@connect 連線捕獲</a:t>
            </a:r>
            <a:r>
              <a:rPr sz="1250">
                <a:solidFill>
                  <a:srgbClr val="94A3B8"/>
                </a:solidFill>
              </a:rPr>
              <a:t>  —  當滑鼠完成拖曳拉線，接收 Connection (含 source, target)，建立真正的 Edge 並推入 edges 響應式陣列。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🏁  </a:t>
            </a:r>
            <a:r>
              <a:rPr sz="1400" b="1">
                <a:solidFill>
                  <a:srgbClr val="F8FAFC"/>
                </a:solidFill>
              </a:rPr>
              <a:t>Background 背景網格</a:t>
            </a:r>
            <a:r>
              <a:rPr sz="1250">
                <a:solidFill>
                  <a:srgbClr val="94A3B8"/>
                </a:solidFill>
              </a:rPr>
              <a:t>  —  提供背景參考線，並能自訂網格點（gap）與自訂背景顏色。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🎮  </a:t>
            </a:r>
            <a:r>
              <a:rPr sz="1400" b="1">
                <a:solidFill>
                  <a:srgbClr val="F8FAFC"/>
                </a:solidFill>
              </a:rPr>
              <a:t>Controls 縮放控制</a:t>
            </a:r>
            <a:r>
              <a:rPr sz="1250">
                <a:solidFill>
                  <a:srgbClr val="94A3B8"/>
                </a:solidFill>
              </a:rPr>
              <a:t>  —  提供快捷功能，包含 Zoom in/out、適配畫面大小 (fitView) 以及防誤觸鎖定功能。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10B981"/>
                </a:solidFill>
              </a:rPr>
              <a:t>🗺️  </a:t>
            </a:r>
            <a:r>
              <a:rPr sz="1400" b="1">
                <a:solidFill>
                  <a:srgbClr val="F8FAFC"/>
                </a:solidFill>
              </a:rPr>
              <a:t>MiniMap 鷹眼地圖</a:t>
            </a:r>
            <a:r>
              <a:rPr sz="1250">
                <a:solidFill>
                  <a:srgbClr val="94A3B8"/>
                </a:solidFill>
              </a:rPr>
              <a:t>  —  在右下角提供流程圖的全局微縮圖，以便在大規模節點中進行快速定位。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