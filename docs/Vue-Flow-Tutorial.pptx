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 snapToObjects="1">
      <p:cViewPr varScale="1">
        <p:scale>
          <a:sx n="112" d="100"/>
          <a:sy n="112" d="100"/>
        </p:scale>
        <p:origin x="6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818CF8"/>
                </a:solidFill>
                <a:latin typeface="Calibri"/>
              </a:defRPr>
            </a:pPr>
            <a:r>
              <a:t>Vue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8E8F0"/>
                </a:solidFill>
                <a:latin typeface="Calibri"/>
              </a:defRPr>
            </a:pPr>
            <a:r>
              <a:t>互動式流程圖編輯器 — 完整教學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8B8"/>
                </a:solidFill>
                <a:latin typeface="Calibri"/>
              </a:defRPr>
            </a:pPr>
            <a:r>
              <a:t>使用 Vue 3 + TypeScript + @vue-flow/core</a:t>
            </a:r>
            <a:br/>
            <a:r>
              <a:t>建立可拖曳、可連線的節點式工作流程圖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Vue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Vite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02920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Calibri"/>
              </a:rPr>
              <a:t>Vue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github.com/bcakmakoglu/vue-flow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01  什麼是 Vue Flow？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高度可自訂的 Vue 3 流程圖元件庫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898B8"/>
                </a:solidFill>
                <a:latin typeface="Calibri"/>
              </a:defRPr>
            </a:pPr>
            <a:r>
              <a:t>Vue Flow 是基於 React Flow 概念的 Vue 3 實現，提供節點式圖形編輯介面。適用於工作流程設計、資料管線視覺化、狀態機編輯器等場景。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🎯  高度可自訂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自定義節點、邊、Handle 外觀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9184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⚡  效能優異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使用虛擬化渲染，支援大量節點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3429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🧩  豐富外掛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86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MiniMap、Controls、Background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🔄  雙向綁定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v-model 直接綁定節點與邊資料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7548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📦  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完整的型別定義支援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291840" cy="118872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  <a:latin typeface="Calibri"/>
              </a:defRPr>
            </a:pPr>
            <a:r>
              <a:t>🎨  可主題化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CSS 變數輕鬆自訂外觀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02  安裝與設定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三步驟快速開始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Step 1  安裝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# 安裝核心與外掛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npm install </a:t>
            </a:r>
            <a:r>
              <a:rPr sz="1100">
                <a:solidFill>
                  <a:srgbClr val="34D399"/>
                </a:solidFill>
                <a:latin typeface="Consolas"/>
              </a:rPr>
              <a:t>@vue-flow/core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npm install </a:t>
            </a:r>
            <a:r>
              <a:rPr sz="1100">
                <a:solidFill>
                  <a:srgbClr val="34D399"/>
                </a:solidFill>
                <a:latin typeface="Consolas"/>
              </a:rPr>
              <a:t>@vue-flow/background \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34D399"/>
                </a:solidFill>
                <a:latin typeface="Consolas"/>
              </a:rPr>
              <a:t>@vue-flow/controls @vue-flow/minimap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Step 2  匯入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main.ts — 必須匯入核心樣式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'@vue-flow/core/dist/style.css'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'@vue-flow/core/dist/theme-default.css'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'@vue-flow/controls/dist/style.css'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'@vue-flow/minimap/dist/style.css'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7185"/>
                </a:solidFill>
                <a:latin typeface="Calibri"/>
              </a:rPr>
              <a:t>Step 3  使用元件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06040"/>
            <a:ext cx="5212080" cy="29260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script setup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ref }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'vue'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VueFlow }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34D399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nodes = </a:t>
            </a:r>
            <a:r>
              <a:rPr sz="1100">
                <a:solidFill>
                  <a:srgbClr val="FBBF24"/>
                </a:solidFill>
                <a:latin typeface="Consolas"/>
              </a:rPr>
              <a:t>ref</a:t>
            </a:r>
            <a:r>
              <a:rPr sz="1100">
                <a:solidFill>
                  <a:srgbClr val="D4D4D8"/>
                </a:solidFill>
                <a:latin typeface="Consolas"/>
              </a:rPr>
              <a:t>([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{ id: </a:t>
            </a:r>
            <a:r>
              <a:rPr sz="1100">
                <a:solidFill>
                  <a:srgbClr val="34D399"/>
                </a:solidFill>
                <a:latin typeface="Consolas"/>
              </a:rPr>
              <a:t>'1'</a:t>
            </a:r>
            <a:r>
              <a:rPr sz="1100">
                <a:solidFill>
                  <a:srgbClr val="D4D4D8"/>
                </a:solidFill>
                <a:latin typeface="Consolas"/>
              </a:rPr>
              <a:t>, type: </a:t>
            </a:r>
            <a:r>
              <a:rPr sz="1100">
                <a:solidFill>
                  <a:srgbClr val="34D399"/>
                </a:solidFill>
                <a:latin typeface="Consolas"/>
              </a:rPr>
              <a:t>'input'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label: </a:t>
            </a:r>
            <a:r>
              <a:rPr sz="1100">
                <a:solidFill>
                  <a:srgbClr val="34D399"/>
                </a:solidFill>
                <a:latin typeface="Consolas"/>
              </a:rPr>
              <a:t>'Start'</a:t>
            </a:r>
            <a:r>
              <a:rPr sz="1100">
                <a:solidFill>
                  <a:srgbClr val="D4D4D8"/>
                </a:solidFill>
                <a:latin typeface="Consolas"/>
              </a:rPr>
              <a:t>, position: { x: 250, y: 5 } },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{ id: </a:t>
            </a:r>
            <a:r>
              <a:rPr sz="1100">
                <a:solidFill>
                  <a:srgbClr val="34D399"/>
                </a:solidFill>
                <a:latin typeface="Consolas"/>
              </a:rPr>
              <a:t>'2'</a:t>
            </a:r>
            <a:r>
              <a:rPr sz="1100">
                <a:solidFill>
                  <a:srgbClr val="D4D4D8"/>
                </a:solidFill>
                <a:latin typeface="Consolas"/>
              </a:rPr>
              <a:t>, label: </a:t>
            </a:r>
            <a:r>
              <a:rPr sz="1100">
                <a:solidFill>
                  <a:srgbClr val="34D399"/>
                </a:solidFill>
                <a:latin typeface="Consolas"/>
              </a:rPr>
              <a:t>'Process'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position: { x: 250, y: 100 } },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edges = </a:t>
            </a:r>
            <a:r>
              <a:rPr sz="1100">
                <a:solidFill>
                  <a:srgbClr val="FBBF24"/>
                </a:solidFill>
                <a:latin typeface="Consolas"/>
              </a:rPr>
              <a:t>ref</a:t>
            </a:r>
            <a:r>
              <a:rPr sz="1100">
                <a:solidFill>
                  <a:srgbClr val="D4D4D8"/>
                </a:solidFill>
                <a:latin typeface="Consolas"/>
              </a:rPr>
              <a:t>([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{ id: </a:t>
            </a:r>
            <a:r>
              <a:rPr sz="1100">
                <a:solidFill>
                  <a:srgbClr val="34D399"/>
                </a:solidFill>
                <a:latin typeface="Consolas"/>
              </a:rPr>
              <a:t>'e1-2'</a:t>
            </a:r>
            <a:r>
              <a:rPr sz="1100">
                <a:solidFill>
                  <a:srgbClr val="D4D4D8"/>
                </a:solidFill>
                <a:latin typeface="Consolas"/>
              </a:rPr>
              <a:t>, source: </a:t>
            </a:r>
            <a:r>
              <a:rPr sz="1100">
                <a:solidFill>
                  <a:srgbClr val="34D399"/>
                </a:solidFill>
                <a:latin typeface="Consolas"/>
              </a:rPr>
              <a:t>'1'</a:t>
            </a:r>
            <a:r>
              <a:rPr sz="1100">
                <a:solidFill>
                  <a:srgbClr val="D4D4D8"/>
                </a:solidFill>
                <a:latin typeface="Consolas"/>
              </a:rPr>
              <a:t>, target: </a:t>
            </a:r>
            <a:r>
              <a:rPr sz="1100">
                <a:solidFill>
                  <a:srgbClr val="34D399"/>
                </a:solidFill>
                <a:latin typeface="Consolas"/>
              </a:rPr>
              <a:t>'2'</a:t>
            </a:r>
            <a:r>
              <a:rPr sz="1100">
                <a:solidFill>
                  <a:srgbClr val="D4D4D8"/>
                </a:solidFill>
                <a:latin typeface="Consolas"/>
              </a:rPr>
              <a:t>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script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⚠️  注意：VueFlow 的外層容器必須設定固定高度（如 height: 500px），否則畫布不會渲染。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03  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Node・Edge・Handle — 三大核心元素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📦  Node（節點）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流程圖上的方塊元素，是流程的基本單位。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3200400" cy="237744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Node 基本結構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id: </a:t>
            </a:r>
            <a:r>
              <a:rPr sz="1100">
                <a:solidFill>
                  <a:srgbClr val="34D399"/>
                </a:solidFill>
                <a:latin typeface="Consolas"/>
              </a:rPr>
              <a:t>'node-1'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type: </a:t>
            </a:r>
            <a:r>
              <a:rPr sz="1100">
                <a:solidFill>
                  <a:srgbClr val="34D399"/>
                </a:solidFill>
                <a:latin typeface="Consolas"/>
              </a:rPr>
              <a:t>'default'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label: </a:t>
            </a:r>
            <a:r>
              <a:rPr sz="1100">
                <a:solidFill>
                  <a:srgbClr val="34D399"/>
                </a:solidFill>
                <a:latin typeface="Consolas"/>
              </a:rPr>
              <a:t>'我的節點'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position: { x: 100, y: 50 },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data: { </a:t>
            </a:r>
            <a:r>
              <a:rPr sz="1100">
                <a:solidFill>
                  <a:srgbClr val="686888"/>
                </a:solidFill>
                <a:latin typeface="Consolas"/>
              </a:rPr>
              <a:t>/* 自訂資料 */</a:t>
            </a:r>
            <a:r>
              <a:rPr sz="1100">
                <a:solidFill>
                  <a:srgbClr val="D4D4D8"/>
                </a:solidFill>
                <a:latin typeface="Consolas"/>
              </a:rPr>
              <a:t>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🔗  Edge（邊/連線）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連接兩個節點的線條，定義資料流方向。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57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bezier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貝茲曲線（預設）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straight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直線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直角折線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Consolas"/>
              </a:defRPr>
            </a:pPr>
            <a:r>
              <a:t>smoothstep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圓角折線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12064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{ id: </a:t>
            </a:r>
            <a:r>
              <a:rPr sz="1100">
                <a:solidFill>
                  <a:srgbClr val="34D399"/>
                </a:solidFill>
                <a:latin typeface="Consolas"/>
              </a:rPr>
              <a:t>'e1-2'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source: </a:t>
            </a:r>
            <a:r>
              <a:rPr sz="1100">
                <a:solidFill>
                  <a:srgbClr val="34D399"/>
                </a:solidFill>
                <a:latin typeface="Consolas"/>
              </a:rPr>
              <a:t>'1'</a:t>
            </a:r>
            <a:r>
              <a:rPr sz="1100">
                <a:solidFill>
                  <a:srgbClr val="D4D4D8"/>
                </a:solidFill>
                <a:latin typeface="Consolas"/>
              </a:rPr>
              <a:t>, target: </a:t>
            </a:r>
            <a:r>
              <a:rPr sz="1100">
                <a:solidFill>
                  <a:srgbClr val="34D399"/>
                </a:solidFill>
                <a:latin typeface="Consolas"/>
              </a:rPr>
              <a:t>'2'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type: </a:t>
            </a:r>
            <a:r>
              <a:rPr sz="1100">
                <a:solidFill>
                  <a:srgbClr val="34D399"/>
                </a:solidFill>
                <a:latin typeface="Consolas"/>
              </a:rPr>
              <a:t>'smoothstep'</a:t>
            </a:r>
            <a:r>
              <a:rPr sz="1100">
                <a:solidFill>
                  <a:srgbClr val="D4D4D8"/>
                </a:solidFill>
                <a:latin typeface="Consolas"/>
              </a:rPr>
              <a:t>, animated: </a:t>
            </a:r>
            <a:r>
              <a:rPr sz="1100">
                <a:solidFill>
                  <a:srgbClr val="C084FC"/>
                </a:solidFill>
                <a:latin typeface="Consolas"/>
              </a:rPr>
              <a:t>true</a:t>
            </a:r>
            <a:r>
              <a:rPr sz="1100">
                <a:solidFill>
                  <a:srgbClr val="D4D4D8"/>
                </a:solidFill>
                <a:latin typeface="Consolas"/>
              </a:rPr>
              <a:t> 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2860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7185"/>
                </a:solidFill>
                <a:latin typeface="Calibri"/>
              </a:defRPr>
            </a:pPr>
            <a:r>
              <a:t>⚡  Handle（連接點）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節點上的圓形端點，用於連接邊。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輸出端 — 邊的起點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onsolas"/>
              </a:defRPr>
            </a:pPr>
            <a: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輸入端 — 邊的終點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66344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4754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Handle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type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"source"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"Position.Right"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id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"output-a"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/&gt;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04  內建節點類型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三種內建節點 + 自定義擴展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338328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📥  輸入節點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type: 'input'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流程起始點，只有 source handle（底部）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2194560"/>
            <a:ext cx="3383280" cy="5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3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📦  預設節點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type: 'default'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同時有 source 和 target handle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19456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599" y="2194560"/>
            <a:ext cx="3383280" cy="50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7185"/>
                </a:solidFill>
                <a:latin typeface="Calibri"/>
              </a:defRPr>
            </a:pPr>
            <a:r>
              <a:t>📤  輸出節點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2880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type: 'output'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3291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流程結束點，只有 target handle（頂部）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389120"/>
            <a:ext cx="50292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🎨  自定義節點 — 完全掌控外觀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使用 Vue 元件建立任意外觀的節點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💡 推薦使用作用域插槽，代碼更簡潔且無須手動註冊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2976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38912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VueFlow </a:t>
            </a:r>
            <a:r>
              <a:rPr sz="1100">
                <a:solidFill>
                  <a:srgbClr val="818CF8"/>
                </a:solidFill>
                <a:latin typeface="Consolas"/>
              </a:rPr>
              <a:t>:nodes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"nodes"</a:t>
            </a:r>
            <a:r>
              <a:rPr sz="1100">
                <a:solidFill>
                  <a:srgbClr val="D4D4D8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:edges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"edges"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💡 使用 #node-&lt;type&gt; 作用域插槽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</a:t>
            </a:r>
            <a:r>
              <a:rPr sz="1100">
                <a:solidFill>
                  <a:srgbClr val="FB7185"/>
                </a:solidFill>
                <a:latin typeface="Consolas"/>
              </a:rPr>
              <a:t>template </a:t>
            </a:r>
            <a:r>
              <a:rPr sz="1100">
                <a:solidFill>
                  <a:srgbClr val="818CF8"/>
                </a:solidFill>
                <a:latin typeface="Consolas"/>
              </a:rPr>
              <a:t>#node-custom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"nodeProps"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CustomNode </a:t>
            </a:r>
            <a:r>
              <a:rPr sz="1100">
                <a:solidFill>
                  <a:srgbClr val="818CF8"/>
                </a:solidFill>
                <a:latin typeface="Consolas"/>
              </a:rPr>
              <a:t>v-bind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"nodeProps"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&lt;/</a:t>
            </a:r>
            <a:r>
              <a:rPr sz="1100">
                <a:solidFill>
                  <a:srgbClr val="FB7185"/>
                </a:solidFill>
                <a:latin typeface="Consolas"/>
              </a:rPr>
              <a:t>template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VueFlow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t>05  自定義節點實作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CustomNode.vue — 打造專屬節點外觀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7185"/>
                </a:solidFill>
                <a:latin typeface="Calibri"/>
              </a:rPr>
              <a:t>Template 模板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212080" cy="3931919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template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class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"custom-node"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輸入 Handle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Handle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v-if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"data.category !== 'input'"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type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"target"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:position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"Position.Left"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節點標題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class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"header"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  {{ data.icon }} {{ data.title }}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&lt;/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節點內容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class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"body"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  {{ data.description }}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&lt;/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輸出 Handle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&lt;</a:t>
            </a:r>
            <a:r>
              <a:rPr sz="1100">
                <a:solidFill>
                  <a:srgbClr val="FB7185"/>
                </a:solidFill>
                <a:latin typeface="Consolas"/>
              </a:rPr>
              <a:t>Handle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v-if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"data.category !== 'output'"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type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"source"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 :position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"Position.Right"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&lt;/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template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Calibri"/>
              </a:rPr>
              <a:t>Script 邏輯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1460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script setup lang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"ts"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Handle, Position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34D399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interface </a:t>
            </a:r>
            <a:r>
              <a:rPr sz="1100">
                <a:solidFill>
                  <a:srgbClr val="22D3EE"/>
                </a:solidFill>
                <a:latin typeface="Consolas"/>
              </a:rPr>
              <a:t>NodeData</a:t>
            </a:r>
            <a:r>
              <a:rPr sz="11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category: </a:t>
            </a:r>
            <a:r>
              <a:rPr sz="1100">
                <a:solidFill>
                  <a:srgbClr val="34D399"/>
                </a:solidFill>
                <a:latin typeface="Consolas"/>
              </a:rPr>
              <a:t>'input' | 'process' | 'output'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icon: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title: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description: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defineProps</a:t>
            </a:r>
            <a:r>
              <a:rPr sz="1100">
                <a:solidFill>
                  <a:srgbClr val="D4D4D8"/>
                </a:solidFill>
                <a:latin typeface="Consolas"/>
              </a:rPr>
              <a:t>&lt;{ id: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  <a:r>
              <a:rPr sz="1100">
                <a:solidFill>
                  <a:srgbClr val="D4D4D8"/>
                </a:solidFill>
                <a:latin typeface="Consolas"/>
              </a:rPr>
              <a:t>; data: </a:t>
            </a:r>
            <a:r>
              <a:rPr sz="1100">
                <a:solidFill>
                  <a:srgbClr val="22D3EE"/>
                </a:solidFill>
                <a:latin typeface="Consolas"/>
              </a:rPr>
              <a:t>NodeData</a:t>
            </a:r>
            <a:r>
              <a:rPr sz="1100">
                <a:solidFill>
                  <a:srgbClr val="D4D4D8"/>
                </a:solidFill>
                <a:latin typeface="Consolas"/>
              </a:rPr>
              <a:t> }&gt;()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script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46320"/>
            <a:ext cx="5212080" cy="1554480"/>
          </a:xfrm>
          <a:prstGeom prst="roundRect">
            <a:avLst>
              <a:gd name="adj" fmla="val 5000"/>
            </a:avLst>
          </a:prstGeom>
          <a:solidFill>
            <a:srgbClr val="152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💡  關鍵重點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Handle 的 type='source' → 輸出端 (邊的起點)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6052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Handle 的 type='target' → 輸入端 (邊的終點)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8613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用 v-if 依據 category 控制 Handle 顯示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117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• Props 會自動收到 id、data、selected 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818CF8"/>
                </a:solidFill>
                <a:latin typeface="Consolas"/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自定義連線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Custom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E8E8F0"/>
                </a:solidFill>
                <a:latin typeface="Calibri"/>
              </a:defRPr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CustomEdge.vue — 可互動的智慧連線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CustomEdge.vue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5212080" cy="3931919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&lt;script setup&gt;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C084FC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import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{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getSmoothStepPath,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EdgeLabelRenderer,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BaseEdge, useVueFlow,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C084FC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 from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'@vue-flow/core'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34D399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C084FC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const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props = defineProps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&lt;EdgeProps&gt;()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C084FC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const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{ removeEdges } = useVueFlow()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&lt;/script&gt;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FB7185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&lt;template&gt;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68688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&lt;!-- 基本路徑渲染 --&gt;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&lt;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BaseEdge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:path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"edgePath"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/&gt;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D4D4D8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68688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&lt;!-- 透明加粗感應帶 --&gt;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&lt;path :d=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"edgePath"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stroke=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"transparent"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stroke-width=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"20"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@mouseenter / @mouseleave /&gt;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D4D4D8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68688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&lt;!-- 中點刪除按鈕 --&gt;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&lt;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EdgeLabelRenderer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&lt;button @click.stop=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"removeEdges(id)"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/&gt;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&lt;/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EdgeLabelRenderer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D4D4D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B718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&lt;/template&gt;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核心元件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060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⚡  </a:t>
            </a: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BaseEdge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89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—  接收計算好的 SVG path 字串進行渲染，取代手動撰寫 &lt;path&gt; 標籤。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📐  </a:t>
            </a: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getSmoothStepPath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89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—  根據 source/target 座標與位置，自動計算圓角折線路徑與中點座標。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18CF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🏷️  </a:t>
            </a: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EdgeLabelRenderer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89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—  在獨立的 DOM 層渲染 HTML 元素（如按鈕），脫離 SVG 限制。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846320"/>
            <a:ext cx="5212080" cy="1554480"/>
          </a:xfrm>
          <a:prstGeom prst="roundRect">
            <a:avLst>
              <a:gd name="adj" fmla="val 5000"/>
            </a:avLst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22D3EE"/>
                </a:solidFill>
                <a:latin typeface="Calibri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💡  註冊與關鍵提示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898B8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89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透過 #edge-&lt;type&gt; 作用域插槽註冊自定義連線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6052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898B8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89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透明 hit-area path (stroke-width: 20) 擴大感應範圍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8613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898B8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89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EdgeLabelRenderer 跨 DOM 層，需用 JS 驅動 hover 狀態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117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9898B8"/>
                </a:solidFill>
                <a:latin typeface="Calibr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898B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removeEdges(id) 即可一行刪除連線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rPr lang="en-US" altLang="zh-TW" dirty="0"/>
              <a:t>07</a:t>
            </a:r>
            <a:r>
              <a:rPr dirty="0"/>
              <a:t>  </a:t>
            </a:r>
            <a:r>
              <a:rPr dirty="0" err="1"/>
              <a:t>useVueFlow</a:t>
            </a:r>
            <a:r>
              <a:rPr dirty="0"/>
              <a:t> Composable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核心 API — 控制畫布的一切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669280" cy="42976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script setup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D4D4D8"/>
                </a:solidFill>
                <a:latin typeface="Consolas"/>
              </a:rPr>
              <a:t>{ useVueFlow } </a:t>
            </a:r>
            <a:r>
              <a:rPr sz="1100">
                <a:solidFill>
                  <a:srgbClr val="C084FC"/>
                </a:solidFill>
                <a:latin typeface="Consolas"/>
              </a:rPr>
              <a:t>from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34D399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onConnect,     </a:t>
            </a:r>
            <a:r>
              <a:rPr sz="1100">
                <a:solidFill>
                  <a:srgbClr val="686888"/>
                </a:solidFill>
                <a:latin typeface="Consolas"/>
              </a:rPr>
              <a:t>// 連線建立事件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addNodes,      </a:t>
            </a:r>
            <a:r>
              <a:rPr sz="1100">
                <a:solidFill>
                  <a:srgbClr val="686888"/>
                </a:solidFill>
                <a:latin typeface="Consolas"/>
              </a:rPr>
              <a:t>// 新增節點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addEdges,      </a:t>
            </a:r>
            <a:r>
              <a:rPr sz="1100">
                <a:solidFill>
                  <a:srgbClr val="686888"/>
                </a:solidFill>
                <a:latin typeface="Consolas"/>
              </a:rPr>
              <a:t>// 新增邊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removeNodes,   </a:t>
            </a:r>
            <a:r>
              <a:rPr sz="1100">
                <a:solidFill>
                  <a:srgbClr val="686888"/>
                </a:solidFill>
                <a:latin typeface="Consolas"/>
              </a:rPr>
              <a:t>// 移除節點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fitView,       </a:t>
            </a:r>
            <a:r>
              <a:rPr sz="1100">
                <a:solidFill>
                  <a:srgbClr val="686888"/>
                </a:solidFill>
                <a:latin typeface="Consolas"/>
              </a:rPr>
              <a:t>// 適配畫面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project,       </a:t>
            </a:r>
            <a:r>
              <a:rPr sz="1100">
                <a:solidFill>
                  <a:srgbClr val="686888"/>
                </a:solidFill>
                <a:latin typeface="Consolas"/>
              </a:rPr>
              <a:t>// 座標轉換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toObject,      </a:t>
            </a:r>
            <a:r>
              <a:rPr sz="1100">
                <a:solidFill>
                  <a:srgbClr val="686888"/>
                </a:solidFill>
                <a:latin typeface="Consolas"/>
              </a:rPr>
              <a:t>// 匯出狀態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  vueFlowRef,    </a:t>
            </a:r>
            <a:r>
              <a:rPr sz="1100">
                <a:solidFill>
                  <a:srgbClr val="686888"/>
                </a:solidFill>
                <a:latin typeface="Consolas"/>
              </a:rPr>
              <a:t>// DOM 參考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 = </a:t>
            </a:r>
            <a:r>
              <a:rPr sz="1100">
                <a:solidFill>
                  <a:srgbClr val="FBBF24"/>
                </a:solidFill>
                <a:latin typeface="Consolas"/>
              </a:rPr>
              <a:t>useVueFlow</a:t>
            </a:r>
            <a:r>
              <a:rPr sz="1100">
                <a:solidFill>
                  <a:srgbClr val="D4D4D8"/>
                </a:solidFill>
                <a:latin typeface="Consolas"/>
              </a:rPr>
              <a:t>()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監聽連線建立事件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FBBF24"/>
                </a:solidFill>
                <a:latin typeface="Consolas"/>
              </a:rPr>
              <a:t>onConnect</a:t>
            </a:r>
            <a:r>
              <a:rPr sz="1100">
                <a:solidFill>
                  <a:srgbClr val="D4D4D8"/>
                </a:solidFill>
                <a:latin typeface="Consolas"/>
              </a:rPr>
              <a:t>((connection) =&gt;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FBBF24"/>
                </a:solidFill>
                <a:latin typeface="Consolas"/>
              </a:rPr>
              <a:t>addEdges</a:t>
            </a:r>
            <a:r>
              <a:rPr sz="1100">
                <a:solidFill>
                  <a:srgbClr val="D4D4D8"/>
                </a:solidFill>
                <a:latin typeface="Consolas"/>
              </a:rPr>
              <a:t>([{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...connection,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type: </a:t>
            </a:r>
            <a:r>
              <a:rPr sz="1100">
                <a:solidFill>
                  <a:srgbClr val="34D399"/>
                </a:solidFill>
                <a:latin typeface="Consolas"/>
              </a:rPr>
              <a:t>'smoothstep'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animated: </a:t>
            </a:r>
            <a:r>
              <a:rPr sz="1100">
                <a:solidFill>
                  <a:srgbClr val="C084FC"/>
                </a:solidFill>
                <a:latin typeface="Consolas"/>
              </a:rPr>
              <a:t>true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}])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&lt;/</a:t>
            </a:r>
            <a:r>
              <a:rPr sz="1100">
                <a:solidFill>
                  <a:srgbClr val="FB7185"/>
                </a:solidFill>
                <a:latin typeface="Consolas"/>
              </a:rPr>
              <a:t>script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8F0"/>
                </a:solidFill>
                <a:latin typeface="Calibri"/>
              </a:defRPr>
            </a:pPr>
            <a:r>
              <a:t>常用方法一覽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834640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addNodes()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862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動態新增節點到畫布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73552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addEdges()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3009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動態新增連線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712464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onsolas"/>
              </a:defRPr>
            </a:pPr>
            <a:r>
              <a:t>removeNodes()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398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移除指定節點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151376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4178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7185"/>
                </a:solidFill>
                <a:latin typeface="Consolas"/>
              </a:defRPr>
            </a:pPr>
            <a:r>
              <a:t>removeEdges()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78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移除指定連線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590288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onsolas"/>
              </a:defRPr>
            </a:pPr>
            <a:r>
              <a:t>fitView()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617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自動適配畫面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5029200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5056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onsolas"/>
              </a:defRPr>
            </a:pPr>
            <a:r>
              <a:t>project()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螢幕座標→畫布座標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5468112"/>
            <a:ext cx="4754880" cy="3657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5495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onsolas"/>
              </a:defRPr>
            </a:pPr>
            <a:r>
              <a:t>toObject()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4955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898B8"/>
                </a:solidFill>
                <a:latin typeface="Calibri"/>
              </a:defRPr>
            </a:pPr>
            <a:r>
              <a:t>匯出 nodes + edges + viewport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86888"/>
                </a:solidFill>
                <a:latin typeface="Consolas"/>
              </a:defRPr>
            </a:pPr>
            <a:r>
              <a:t>事件：onConnect · onNodeClick · onEdgesChange · onPaneClick · onNodeDragStop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rPr lang="en-US" dirty="0"/>
              <a:t>08</a:t>
            </a:r>
            <a:r>
              <a:rPr dirty="0"/>
              <a:t>  </a:t>
            </a:r>
            <a:r>
              <a:rPr dirty="0" err="1"/>
              <a:t>拖放新增節點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Drag &amp; Drop — 從側邊欄拖入畫布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Sidebar 設定 dragstart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2103120"/>
            <a:ext cx="411480" cy="41148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Canvas 監聽 dragover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21031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Canvas 監聽 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452360" y="210312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用 project() 轉換座標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868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0" y="2103120"/>
            <a:ext cx="411480" cy="41148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606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898B8"/>
                </a:solidFill>
                <a:latin typeface="Calibri"/>
              </a:defRPr>
            </a:pPr>
            <a:r>
              <a:t>addNodes() 新增節點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Sidebar.vue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2900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Sidebar：設定 dataTransfer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function </a:t>
            </a:r>
            <a:r>
              <a:rPr sz="1100">
                <a:solidFill>
                  <a:srgbClr val="FBBF24"/>
                </a:solidFill>
                <a:latin typeface="Consolas"/>
              </a:rPr>
              <a:t>onDragStart</a:t>
            </a:r>
            <a:r>
              <a:rPr sz="1100">
                <a:solidFill>
                  <a:srgbClr val="D4D4D8"/>
                </a:solidFill>
                <a:latin typeface="Consolas"/>
              </a:rPr>
              <a:t>(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event: </a:t>
            </a:r>
            <a:r>
              <a:rPr sz="1100">
                <a:solidFill>
                  <a:srgbClr val="22D3EE"/>
                </a:solidFill>
                <a:latin typeface="Consolas"/>
              </a:rPr>
              <a:t>DragEvent</a:t>
            </a:r>
            <a:r>
              <a:rPr sz="1100">
                <a:solidFill>
                  <a:srgbClr val="D4D4D8"/>
                </a:solidFill>
                <a:latin typeface="Consolas"/>
              </a:rPr>
              <a:t>, nodeType: </a:t>
            </a:r>
            <a:r>
              <a:rPr sz="1100">
                <a:solidFill>
                  <a:srgbClr val="22D3EE"/>
                </a:solidFill>
                <a:latin typeface="Consolas"/>
              </a:rPr>
              <a:t>string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event.dataTransfer</a:t>
            </a:r>
            <a:r>
              <a:rPr sz="1100">
                <a:solidFill>
                  <a:srgbClr val="C084FC"/>
                </a:solidFill>
                <a:latin typeface="Consolas"/>
              </a:rPr>
              <a:t>?.</a:t>
            </a:r>
            <a:r>
              <a:rPr sz="1100">
                <a:solidFill>
                  <a:srgbClr val="FBBF24"/>
                </a:solidFill>
                <a:latin typeface="Consolas"/>
              </a:rPr>
              <a:t>setData</a:t>
            </a:r>
            <a:r>
              <a:rPr sz="1100">
                <a:solidFill>
                  <a:srgbClr val="D4D4D8"/>
                </a:solidFill>
                <a:latin typeface="Consolas"/>
              </a:rPr>
              <a:t>(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</a:t>
            </a:r>
            <a:r>
              <a:rPr sz="1100">
                <a:solidFill>
                  <a:srgbClr val="34D399"/>
                </a:solidFill>
                <a:latin typeface="Consolas"/>
              </a:rPr>
              <a:t>'application/vueflow'</a:t>
            </a:r>
            <a:r>
              <a:rPr sz="1100">
                <a:solidFill>
                  <a:srgbClr val="D4D4D8"/>
                </a:solidFill>
                <a:latin typeface="Consolas"/>
              </a:rPr>
              <a:t>, nodeType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event.dataTransfer.effectAllowed = </a:t>
            </a:r>
            <a:r>
              <a:rPr sz="1100">
                <a:solidFill>
                  <a:srgbClr val="34D399"/>
                </a:solidFill>
                <a:latin typeface="Consolas"/>
              </a:rPr>
              <a:t>'move'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Template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:draggable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"true"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   @dragstart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"onDragStart($event, type)"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017520"/>
            <a:ext cx="1463040" cy="320040"/>
          </a:xfrm>
          <a:prstGeom prst="roundRect">
            <a:avLst>
              <a:gd name="adj" fmla="val 5000"/>
            </a:avLst>
          </a:prstGeom>
          <a:solidFill>
            <a:srgbClr val="22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App.vue (drop)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35204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function </a:t>
            </a:r>
            <a:r>
              <a:rPr sz="1100">
                <a:solidFill>
                  <a:srgbClr val="FBBF24"/>
                </a:solidFill>
                <a:latin typeface="Consolas"/>
              </a:rPr>
              <a:t>onDrop</a:t>
            </a:r>
            <a:r>
              <a:rPr sz="1100">
                <a:solidFill>
                  <a:srgbClr val="D4D4D8"/>
                </a:solidFill>
                <a:latin typeface="Consolas"/>
              </a:rPr>
              <a:t>(event: </a:t>
            </a:r>
            <a:r>
              <a:rPr sz="1100">
                <a:solidFill>
                  <a:srgbClr val="22D3EE"/>
                </a:solidFill>
                <a:latin typeface="Consolas"/>
              </a:rPr>
              <a:t>DragEvent</a:t>
            </a:r>
            <a:r>
              <a:rPr sz="1100">
                <a:solidFill>
                  <a:srgbClr val="D4D4D8"/>
                </a:solidFill>
                <a:latin typeface="Consolas"/>
              </a:rPr>
              <a:t>) 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  const </a:t>
            </a:r>
            <a:r>
              <a:rPr sz="1100">
                <a:solidFill>
                  <a:srgbClr val="D4D4D8"/>
                </a:solidFill>
                <a:latin typeface="Consolas"/>
              </a:rPr>
              <a:t>type = event.dataTransfer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.</a:t>
            </a:r>
            <a:r>
              <a:rPr sz="1100">
                <a:solidFill>
                  <a:srgbClr val="FBBF24"/>
                </a:solidFill>
                <a:latin typeface="Consolas"/>
              </a:rPr>
              <a:t>getData</a:t>
            </a:r>
            <a:r>
              <a:rPr sz="1100">
                <a:solidFill>
                  <a:srgbClr val="D4D4D8"/>
                </a:solidFill>
                <a:latin typeface="Consolas"/>
              </a:rPr>
              <a:t>(</a:t>
            </a:r>
            <a:r>
              <a:rPr sz="1100">
                <a:solidFill>
                  <a:srgbClr val="34D399"/>
                </a:solidFill>
                <a:latin typeface="Consolas"/>
              </a:rPr>
              <a:t>'application/vueflow'</a:t>
            </a:r>
            <a:r>
              <a:rPr sz="1100">
                <a:solidFill>
                  <a:srgbClr val="D4D4D8"/>
                </a:solidFill>
                <a:latin typeface="Consolas"/>
              </a:rPr>
              <a:t>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  // 將螢幕座標轉為畫布座標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  const </a:t>
            </a:r>
            <a:r>
              <a:rPr sz="1100">
                <a:solidFill>
                  <a:srgbClr val="D4D4D8"/>
                </a:solidFill>
                <a:latin typeface="Consolas"/>
              </a:rPr>
              <a:t>{ left, top } = 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vueFlowRef.value.</a:t>
            </a:r>
            <a:r>
              <a:rPr sz="1100">
                <a:solidFill>
                  <a:srgbClr val="FBBF24"/>
                </a:solidFill>
                <a:latin typeface="Consolas"/>
              </a:rPr>
              <a:t>getBoundingClientRect</a:t>
            </a:r>
            <a:r>
              <a:rPr sz="1100">
                <a:solidFill>
                  <a:srgbClr val="D4D4D8"/>
                </a:solidFill>
                <a:latin typeface="Consolas"/>
              </a:rPr>
              <a:t>()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  const </a:t>
            </a:r>
            <a:r>
              <a:rPr sz="1100">
                <a:solidFill>
                  <a:srgbClr val="D4D4D8"/>
                </a:solidFill>
                <a:latin typeface="Consolas"/>
              </a:rPr>
              <a:t>position = </a:t>
            </a:r>
            <a:r>
              <a:rPr sz="1100">
                <a:solidFill>
                  <a:srgbClr val="FBBF24"/>
                </a:solidFill>
                <a:latin typeface="Consolas"/>
              </a:rPr>
              <a:t>project</a:t>
            </a:r>
            <a:r>
              <a:rPr sz="1100">
                <a:solidFill>
                  <a:srgbClr val="D4D4D8"/>
                </a:solidFill>
                <a:latin typeface="Consolas"/>
              </a:rPr>
              <a:t>({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x: event.clientX - left,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y: event.clientY - top,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})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endParaRPr sz="1100">
              <a:solidFill>
                <a:srgbClr val="D4D4D8"/>
              </a:solidFill>
              <a:latin typeface="Consolas"/>
            </a:endParaRP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</a:t>
            </a:r>
            <a:r>
              <a:rPr sz="1100">
                <a:solidFill>
                  <a:srgbClr val="FBBF24"/>
                </a:solidFill>
                <a:latin typeface="Consolas"/>
              </a:rPr>
              <a:t>addNodes</a:t>
            </a:r>
            <a:r>
              <a:rPr sz="1100">
                <a:solidFill>
                  <a:srgbClr val="D4D4D8"/>
                </a:solidFill>
                <a:latin typeface="Consolas"/>
              </a:rPr>
              <a:t>([{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id: </a:t>
            </a:r>
            <a:r>
              <a:rPr sz="1100">
                <a:solidFill>
                  <a:srgbClr val="34D399"/>
                </a:solidFill>
                <a:latin typeface="Consolas"/>
              </a:rPr>
              <a:t>`node-${++nodeId}`</a:t>
            </a:r>
            <a:r>
              <a:rPr sz="110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type: </a:t>
            </a:r>
            <a:r>
              <a:rPr sz="1100">
                <a:solidFill>
                  <a:srgbClr val="34D399"/>
                </a:solidFill>
                <a:latin typeface="Consolas"/>
              </a:rPr>
              <a:t>'custom'</a:t>
            </a:r>
            <a:r>
              <a:rPr sz="1100">
                <a:solidFill>
                  <a:srgbClr val="D4D4D8"/>
                </a:solidFill>
                <a:latin typeface="Consolas"/>
              </a:rPr>
              <a:t>, position,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  data: { category: type, ...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  }])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rPr lang="en-US" dirty="0"/>
              <a:t>09</a:t>
            </a:r>
            <a:r>
              <a:rPr dirty="0"/>
              <a:t>  </a:t>
            </a:r>
            <a:r>
              <a:rPr dirty="0" err="1"/>
              <a:t>官方外掛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Background · Controls · MiniMap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🔲  背景網格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@vue-flow/background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在畫布上顯示點陣或線條網格，提供空間參考感。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3200400" cy="15544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Background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:gap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"20"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:size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"1"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variant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"dots"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945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3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🎛️  操控按鈕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@vue-flow/controls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46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提供縮放、適配畫面、鎖定等操作按鈕。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999" y="3931920"/>
            <a:ext cx="3200400" cy="15544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39" y="4023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Controls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position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"bottom-left"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/&gt;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219456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9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🗺️  小地圖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6888"/>
                </a:solidFill>
                <a:latin typeface="Consolas"/>
              </a:defRPr>
            </a:pPr>
            <a:r>
              <a:t>@vue-flow/minimap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246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898B8"/>
                </a:solidFill>
                <a:latin typeface="Calibri"/>
              </a:defRPr>
            </a:pPr>
            <a:r>
              <a:t>鳥瞰式導覽，可平移與縮放。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39" y="3931920"/>
            <a:ext cx="3200400" cy="155448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9" y="40233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MiniMap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pannable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zoomable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18CF8"/>
                </a:solidFill>
                <a:latin typeface="Consolas"/>
              </a:rPr>
              <a:t>  :nodeColor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"colorFn"</a:t>
            </a:r>
            <a:r>
              <a:rPr sz="1100">
                <a:solidFill>
                  <a:srgbClr val="D4D4D8"/>
                </a:solidFill>
                <a:latin typeface="Consolas"/>
              </a:rPr>
              <a:t> /&gt;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492240"/>
            <a:ext cx="10698480" cy="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onsolas"/>
              </a:defRPr>
            </a:pPr>
            <a:r>
              <a:rPr lang="en-US" dirty="0"/>
              <a:t>10</a:t>
            </a:r>
            <a:r>
              <a:rPr dirty="0"/>
              <a:t>  </a:t>
            </a:r>
            <a:r>
              <a:rPr dirty="0" err="1"/>
              <a:t>常見注意事項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8F0"/>
                </a:solidFill>
                <a:latin typeface="Calibri"/>
              </a:defRPr>
            </a:pPr>
            <a:r>
              <a:t>避免這些常見陷阱 ⚠️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0" cy="381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7185"/>
                </a:solidFill>
                <a:latin typeface="Calibri"/>
              </a:defRPr>
            </a:pPr>
            <a:r>
              <a:t>❌  容器沒有設定高度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VueFlow 的外層容器必須有明確的高度（如 height: 100vh），否則畫布不會渲染。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468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❌ 錯誤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div</a:t>
            </a:r>
            <a:r>
              <a:rPr sz="1100">
                <a:solidFill>
                  <a:srgbClr val="D4D4D8"/>
                </a:solidFill>
                <a:latin typeface="Consolas"/>
              </a:rPr>
              <a:t>&gt;  </a:t>
            </a:r>
            <a:r>
              <a:rPr sz="1100">
                <a:solidFill>
                  <a:srgbClr val="686888"/>
                </a:solidFill>
                <a:latin typeface="Consolas"/>
              </a:rPr>
              <a:t>&lt;!-- 沒有高度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✅ 正確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div </a:t>
            </a:r>
            <a:r>
              <a:rPr sz="1100">
                <a:solidFill>
                  <a:srgbClr val="818CF8"/>
                </a:solidFill>
                <a:latin typeface="Consolas"/>
              </a:rPr>
              <a:t>style</a:t>
            </a:r>
            <a:r>
              <a:rPr sz="1100">
                <a:solidFill>
                  <a:srgbClr val="D4D4D8"/>
                </a:solidFill>
                <a:latin typeface="Consolas"/>
              </a:rPr>
              <a:t>=</a:t>
            </a:r>
            <a:r>
              <a:rPr sz="1100">
                <a:solidFill>
                  <a:srgbClr val="34D399"/>
                </a:solidFill>
                <a:latin typeface="Consolas"/>
              </a:rPr>
              <a:t>"height: 100vh"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❌  忘記匯入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核心 CSS 和各外掛的 CSS 都必須手動匯入，否則元件不會正確顯示。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468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2560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必須匯入這些樣式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'@vue-flow/core/dist/style.css'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'@vue-flow/core/dist/theme-default.css'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import </a:t>
            </a:r>
            <a:r>
              <a:rPr sz="1100">
                <a:solidFill>
                  <a:srgbClr val="34D399"/>
                </a:solidFill>
                <a:latin typeface="Consolas"/>
              </a:rPr>
              <a:t>'@vue-flow/controls/dist/style.css'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❌  使用 scoped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Vue Flow 的樣式覆寫不能放在 &lt;style scoped&gt; 中，否則 CSS 選擇器權重不足。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754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❌ 不會生效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style scoped</a:t>
            </a:r>
            <a:r>
              <a:rPr sz="11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&lt;!-- ✅ 正確做法 --&gt;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D4D4D8"/>
                </a:solidFill>
                <a:latin typeface="Consolas"/>
              </a:rPr>
              <a:t>&lt;</a:t>
            </a:r>
            <a:r>
              <a:rPr sz="1100">
                <a:solidFill>
                  <a:srgbClr val="FB7185"/>
                </a:solidFill>
                <a:latin typeface="Consolas"/>
              </a:rPr>
              <a:t>style</a:t>
            </a:r>
            <a:r>
              <a:rPr sz="1100">
                <a:solidFill>
                  <a:srgbClr val="D4D4D8"/>
                </a:solidFill>
                <a:latin typeface="Consolas"/>
              </a:rPr>
              <a:t>&gt;  </a:t>
            </a:r>
            <a:r>
              <a:rPr sz="1100">
                <a:solidFill>
                  <a:srgbClr val="686888"/>
                </a:solidFill>
                <a:latin typeface="Consolas"/>
              </a:rPr>
              <a:t>/* 全域樣式 */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89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❌  沒有用 markRaw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898B8"/>
                </a:solidFill>
                <a:latin typeface="Calibri"/>
              </a:defRPr>
            </a:pPr>
            <a:r>
              <a:t>自定義節點元件若未用 markRaw() 包裝，Vue 會對其進行響應式處理，導致效能問題。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475488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2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48463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❌ 效能問題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types = { custom: MyNode }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686888"/>
                </a:solidFill>
                <a:latin typeface="Consolas"/>
              </a:rPr>
              <a:t>// ✅ 正確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C084FC"/>
                </a:solidFill>
                <a:latin typeface="Consolas"/>
              </a:rPr>
              <a:t>const </a:t>
            </a:r>
            <a:r>
              <a:rPr sz="1100">
                <a:solidFill>
                  <a:srgbClr val="D4D4D8"/>
                </a:solidFill>
                <a:latin typeface="Consolas"/>
              </a:rPr>
              <a:t>types = { custom: </a:t>
            </a:r>
            <a:r>
              <a:rPr sz="1100">
                <a:solidFill>
                  <a:srgbClr val="FBBF24"/>
                </a:solidFill>
                <a:latin typeface="Consolas"/>
              </a:rPr>
              <a:t>markRaw</a:t>
            </a:r>
            <a:r>
              <a:rPr sz="1100">
                <a:solidFill>
                  <a:srgbClr val="D4D4D8"/>
                </a:solidFill>
                <a:latin typeface="Consolas"/>
              </a:rPr>
              <a:t>(MyNode)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E8F0"/>
                </a:solidFill>
                <a:latin typeface="Calibri"/>
              </a:defRPr>
            </a:pPr>
            <a:r>
              <a:t>開始建立你的流程圖 🚀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18288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898B8"/>
                </a:solidFill>
                <a:latin typeface="Calibri"/>
              </a:defRPr>
            </a:pPr>
            <a:r>
              <a:t>Vue Flow 讓複雜的節點式介面變得簡單優雅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📖  官方文件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vueflow.dev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🐙 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github.com/bcakmakoglu/vue-flow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📦  NPM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npmjs.com/package/@vue-flow/core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🎮  範例集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6888"/>
                </a:solidFill>
                <a:latin typeface="Consolas"/>
              </a:defRPr>
            </a:pPr>
            <a:r>
              <a:t>vueflow.dev/examples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Calibri"/>
              </a:defRPr>
            </a:pPr>
            <a:r>
              <a:t>Thank you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1600</Words>
  <Application>Microsoft Macintosh PowerPoint</Application>
  <PresentationFormat>寬螢幕</PresentationFormat>
  <Paragraphs>341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Kenge.Hsieh</cp:lastModifiedBy>
  <cp:revision>2</cp:revision>
  <dcterms:created xsi:type="dcterms:W3CDTF">2013-01-27T09:14:16Z</dcterms:created>
  <dcterms:modified xsi:type="dcterms:W3CDTF">2026-06-05T02:15:59Z</dcterms:modified>
  <cp:category/>
</cp:coreProperties>
</file>