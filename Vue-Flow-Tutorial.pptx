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16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818CF8"/>
                </a:solidFill>
                <a:latin typeface="Calibri"/>
              </a:defRPr>
            </a:pPr>
            <a:r>
              <a:t>Vue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E8E8F0"/>
                </a:solidFill>
                <a:latin typeface="Calibri"/>
              </a:defRPr>
            </a:pPr>
            <a:r>
              <a:t>互動式流程圖編輯器 — 完整教學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474720"/>
            <a:ext cx="182880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8B8"/>
                </a:solidFill>
                <a:latin typeface="Calibri"/>
              </a:defRPr>
            </a:pPr>
            <a:r>
              <a:t>使用 Vue 3 + TypeScript + @vue-flow/core</a:t>
            </a:r>
            <a:br/>
            <a:r>
              <a:t>建立可拖曳、可連線的節點式工作流程圖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02920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Vue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502920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TypeScript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02920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78BFA"/>
                </a:solidFill>
                <a:latin typeface="Calibri"/>
              </a:rPr>
              <a:t>Vite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502920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18CF8"/>
                </a:solidFill>
                <a:latin typeface="Calibri"/>
              </a:rPr>
              <a:t>Vue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6888"/>
                </a:solidFill>
                <a:latin typeface="Consolas"/>
              </a:defRPr>
            </a:pPr>
            <a:r>
              <a:t>github.com/bcakmakoglu/vue-flow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onsolas"/>
              </a:defRPr>
            </a:pPr>
            <a:r>
              <a:t>01  什麼是 Vue Flow？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F0"/>
                </a:solidFill>
                <a:latin typeface="Calibri"/>
              </a:defRPr>
            </a:pPr>
            <a:r>
              <a:t>高度可自訂的 Vue 3 流程圖元件庫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8B8"/>
                </a:solidFill>
                <a:latin typeface="Calibri"/>
              </a:defRPr>
            </a:pPr>
            <a:r>
              <a:t>Vue Flow 是基於 React Flow 概念的 Vue 3 實現，提供節點式圖形編輯介面。適用於工作流程設計、資料管線視覺化、狀態機編輯器等場景。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429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E8F0"/>
                </a:solidFill>
                <a:latin typeface="Calibri"/>
              </a:defRPr>
            </a:pPr>
            <a:r>
              <a:t>🎯  高度可自訂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86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自定義節點、邊、Handle 外觀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29184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429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E8F0"/>
                </a:solidFill>
                <a:latin typeface="Calibri"/>
              </a:defRPr>
            </a:pPr>
            <a:r>
              <a:t>⚡  效能優異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886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使用虛擬化渲染，支援大量節點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29184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429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E8F0"/>
                </a:solidFill>
                <a:latin typeface="Calibri"/>
              </a:defRPr>
            </a:pPr>
            <a:r>
              <a:t>🧩  豐富外掛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886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MiniMap、Controls、Background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92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E8F0"/>
                </a:solidFill>
                <a:latin typeface="Calibri"/>
              </a:defRPr>
            </a:pPr>
            <a:r>
              <a:t>🔄  雙向綁定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v-model 直接綁定節點與邊資料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75488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4892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E8F0"/>
                </a:solidFill>
                <a:latin typeface="Calibri"/>
              </a:defRPr>
            </a:pPr>
            <a:r>
              <a:t>📦  TypeScript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349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完整的型別定義支援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4892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E8F0"/>
                </a:solidFill>
                <a:latin typeface="Calibri"/>
              </a:defRPr>
            </a:pPr>
            <a:r>
              <a:t>🎨  可主題化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349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CSS 變數輕鬆自訂外觀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onsolas"/>
              </a:defRPr>
            </a:pPr>
            <a:r>
              <a:t>02  安裝與設定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F0"/>
                </a:solidFill>
                <a:latin typeface="Calibri"/>
              </a:defRPr>
            </a:pPr>
            <a:r>
              <a:t>三步驟快速開始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37160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22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Step 1  安裝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5212080" cy="10972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# 安裝核心與外掛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npm install </a:t>
            </a:r>
            <a:r>
              <a:rPr sz="1100">
                <a:solidFill>
                  <a:srgbClr val="34D399"/>
                </a:solidFill>
                <a:latin typeface="Consolas"/>
              </a:rPr>
              <a:t>@vue-flow/core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npm install </a:t>
            </a:r>
            <a:r>
              <a:rPr sz="1100">
                <a:solidFill>
                  <a:srgbClr val="34D399"/>
                </a:solidFill>
                <a:latin typeface="Consolas"/>
              </a:rPr>
              <a:t>@vue-flow/background \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</a:t>
            </a:r>
            <a:r>
              <a:rPr sz="1100">
                <a:solidFill>
                  <a:srgbClr val="34D399"/>
                </a:solidFill>
                <a:latin typeface="Consolas"/>
              </a:rPr>
              <a:t>@vue-flow/controls @vue-flow/minimap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22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Step 2  匯入 CSS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212080" cy="10972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// main.ts — 必須匯入核心樣式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'@vue-flow/core/dist/style.css'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'@vue-flow/core/dist/theme-default.css'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'@vue-flow/controls/dist/style.css'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'@vue-flow/minimap/dist/style.css'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9456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22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B7185"/>
                </a:solidFill>
                <a:latin typeface="Calibri"/>
              </a:rPr>
              <a:t>Step 3  使用元件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606040"/>
            <a:ext cx="5212080" cy="29260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script setup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D4D4D8"/>
                </a:solidFill>
                <a:latin typeface="Consolas"/>
              </a:rPr>
              <a:t>{ ref } </a:t>
            </a:r>
            <a:r>
              <a:rPr sz="1100">
                <a:solidFill>
                  <a:srgbClr val="C084FC"/>
                </a:solidFill>
                <a:latin typeface="Consolas"/>
              </a:rPr>
              <a:t>from </a:t>
            </a:r>
            <a:r>
              <a:rPr sz="1100">
                <a:solidFill>
                  <a:srgbClr val="34D399"/>
                </a:solidFill>
                <a:latin typeface="Consolas"/>
              </a:rPr>
              <a:t>'vue'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D4D4D8"/>
                </a:solidFill>
                <a:latin typeface="Consolas"/>
              </a:rPr>
              <a:t>{ VueFlow } </a:t>
            </a:r>
            <a:r>
              <a:rPr sz="1100">
                <a:solidFill>
                  <a:srgbClr val="C084FC"/>
                </a:solidFill>
                <a:latin typeface="Consolas"/>
              </a:rPr>
              <a:t>from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'@vue-flow/core'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const </a:t>
            </a:r>
            <a:r>
              <a:rPr sz="1100">
                <a:solidFill>
                  <a:srgbClr val="D4D4D8"/>
                </a:solidFill>
                <a:latin typeface="Consolas"/>
              </a:rPr>
              <a:t>nodes = </a:t>
            </a:r>
            <a:r>
              <a:rPr sz="1100">
                <a:solidFill>
                  <a:srgbClr val="FBBF24"/>
                </a:solidFill>
                <a:latin typeface="Consolas"/>
              </a:rPr>
              <a:t>ref</a:t>
            </a:r>
            <a:r>
              <a:rPr sz="1100">
                <a:solidFill>
                  <a:srgbClr val="D4D4D8"/>
                </a:solidFill>
                <a:latin typeface="Consolas"/>
              </a:rPr>
              <a:t>([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{ id: </a:t>
            </a:r>
            <a:r>
              <a:rPr sz="1100">
                <a:solidFill>
                  <a:srgbClr val="34D399"/>
                </a:solidFill>
                <a:latin typeface="Consolas"/>
              </a:rPr>
              <a:t>'1'</a:t>
            </a:r>
            <a:r>
              <a:rPr sz="1100">
                <a:solidFill>
                  <a:srgbClr val="D4D4D8"/>
                </a:solidFill>
                <a:latin typeface="Consolas"/>
              </a:rPr>
              <a:t>, type: </a:t>
            </a:r>
            <a:r>
              <a:rPr sz="1100">
                <a:solidFill>
                  <a:srgbClr val="34D399"/>
                </a:solidFill>
                <a:latin typeface="Consolas"/>
              </a:rPr>
              <a:t>'input'</a:t>
            </a:r>
            <a:r>
              <a:rPr sz="11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label: </a:t>
            </a:r>
            <a:r>
              <a:rPr sz="1100">
                <a:solidFill>
                  <a:srgbClr val="34D399"/>
                </a:solidFill>
                <a:latin typeface="Consolas"/>
              </a:rPr>
              <a:t>'Start'</a:t>
            </a:r>
            <a:r>
              <a:rPr sz="1100">
                <a:solidFill>
                  <a:srgbClr val="D4D4D8"/>
                </a:solidFill>
                <a:latin typeface="Consolas"/>
              </a:rPr>
              <a:t>, position: { x: 250, y: 5 } },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{ id: </a:t>
            </a:r>
            <a:r>
              <a:rPr sz="1100">
                <a:solidFill>
                  <a:srgbClr val="34D399"/>
                </a:solidFill>
                <a:latin typeface="Consolas"/>
              </a:rPr>
              <a:t>'2'</a:t>
            </a:r>
            <a:r>
              <a:rPr sz="1100">
                <a:solidFill>
                  <a:srgbClr val="D4D4D8"/>
                </a:solidFill>
                <a:latin typeface="Consolas"/>
              </a:rPr>
              <a:t>, label: </a:t>
            </a:r>
            <a:r>
              <a:rPr sz="1100">
                <a:solidFill>
                  <a:srgbClr val="34D399"/>
                </a:solidFill>
                <a:latin typeface="Consolas"/>
              </a:rPr>
              <a:t>'Process'</a:t>
            </a:r>
            <a:r>
              <a:rPr sz="11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position: { x: 250, y: 100 } },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])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const </a:t>
            </a:r>
            <a:r>
              <a:rPr sz="1100">
                <a:solidFill>
                  <a:srgbClr val="D4D4D8"/>
                </a:solidFill>
                <a:latin typeface="Consolas"/>
              </a:rPr>
              <a:t>edges = </a:t>
            </a:r>
            <a:r>
              <a:rPr sz="1100">
                <a:solidFill>
                  <a:srgbClr val="FBBF24"/>
                </a:solidFill>
                <a:latin typeface="Consolas"/>
              </a:rPr>
              <a:t>ref</a:t>
            </a:r>
            <a:r>
              <a:rPr sz="1100">
                <a:solidFill>
                  <a:srgbClr val="D4D4D8"/>
                </a:solidFill>
                <a:latin typeface="Consolas"/>
              </a:rPr>
              <a:t>([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{ id: </a:t>
            </a:r>
            <a:r>
              <a:rPr sz="1100">
                <a:solidFill>
                  <a:srgbClr val="34D399"/>
                </a:solidFill>
                <a:latin typeface="Consolas"/>
              </a:rPr>
              <a:t>'e1-2'</a:t>
            </a:r>
            <a:r>
              <a:rPr sz="1100">
                <a:solidFill>
                  <a:srgbClr val="D4D4D8"/>
                </a:solidFill>
                <a:latin typeface="Consolas"/>
              </a:rPr>
              <a:t>, source: </a:t>
            </a:r>
            <a:r>
              <a:rPr sz="1100">
                <a:solidFill>
                  <a:srgbClr val="34D399"/>
                </a:solidFill>
                <a:latin typeface="Consolas"/>
              </a:rPr>
              <a:t>'1'</a:t>
            </a:r>
            <a:r>
              <a:rPr sz="1100">
                <a:solidFill>
                  <a:srgbClr val="D4D4D8"/>
                </a:solidFill>
                <a:latin typeface="Consolas"/>
              </a:rPr>
              <a:t>, target: </a:t>
            </a:r>
            <a:r>
              <a:rPr sz="1100">
                <a:solidFill>
                  <a:srgbClr val="34D399"/>
                </a:solidFill>
                <a:latin typeface="Consolas"/>
              </a:rPr>
              <a:t>'2'</a:t>
            </a:r>
            <a:r>
              <a:rPr sz="1100">
                <a:solidFill>
                  <a:srgbClr val="D4D4D8"/>
                </a:solidFill>
                <a:latin typeface="Consolas"/>
              </a:rPr>
              <a:t> 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])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&lt;/</a:t>
            </a:r>
            <a:r>
              <a:rPr sz="1100">
                <a:solidFill>
                  <a:srgbClr val="FB7185"/>
                </a:solidFill>
                <a:latin typeface="Consolas"/>
              </a:rPr>
              <a:t>script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69280"/>
            <a:ext cx="10698480" cy="731520"/>
          </a:xfrm>
          <a:prstGeom prst="roundRect">
            <a:avLst>
              <a:gd name="adj" fmla="val 5000"/>
            </a:avLst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⚠️  注意：VueFlow 的外層容器必須設定固定高度（如 height: 500px），否則畫布不會渲染。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onsolas"/>
              </a:defRPr>
            </a:pPr>
            <a:r>
              <a:t>03  核心概念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F0"/>
                </a:solidFill>
                <a:latin typeface="Calibri"/>
              </a:defRPr>
            </a:pPr>
            <a:r>
              <a:t>Node・Edge・Handle — 三大核心元素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37160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383280" cy="41148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alibri"/>
              </a:defRPr>
            </a:pPr>
            <a:r>
              <a:t>📦  Node（節點）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流程圖上的方塊元素，是流程的基本單位。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566160"/>
            <a:ext cx="3200400" cy="237744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// Node 基本結構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id: </a:t>
            </a:r>
            <a:r>
              <a:rPr sz="1100">
                <a:solidFill>
                  <a:srgbClr val="34D399"/>
                </a:solidFill>
                <a:latin typeface="Consolas"/>
              </a:rPr>
              <a:t>'node-1'</a:t>
            </a:r>
            <a:r>
              <a:rPr sz="11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type: </a:t>
            </a:r>
            <a:r>
              <a:rPr sz="1100">
                <a:solidFill>
                  <a:srgbClr val="34D399"/>
                </a:solidFill>
                <a:latin typeface="Consolas"/>
              </a:rPr>
              <a:t>'default'</a:t>
            </a:r>
            <a:r>
              <a:rPr sz="11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label: </a:t>
            </a:r>
            <a:r>
              <a:rPr sz="1100">
                <a:solidFill>
                  <a:srgbClr val="34D399"/>
                </a:solidFill>
                <a:latin typeface="Consolas"/>
              </a:rPr>
              <a:t>'我的節點'</a:t>
            </a:r>
            <a:r>
              <a:rPr sz="11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position: { x: 100, y: 50 },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data: { </a:t>
            </a:r>
            <a:r>
              <a:rPr sz="1100">
                <a:solidFill>
                  <a:srgbClr val="686888"/>
                </a:solidFill>
                <a:latin typeface="Consolas"/>
              </a:rPr>
              <a:t>/* 自訂資料 */</a:t>
            </a:r>
            <a:r>
              <a:rPr sz="1100">
                <a:solidFill>
                  <a:srgbClr val="D4D4D8"/>
                </a:solidFill>
                <a:latin typeface="Consolas"/>
              </a:rPr>
              <a:t> 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286000"/>
            <a:ext cx="3383280" cy="41148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18CF8"/>
                </a:solidFill>
                <a:latin typeface="Calibri"/>
              </a:defRPr>
            </a:pPr>
            <a:r>
              <a:t>🔗  Edge（邊/連線）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0175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連接兩個節點的線條，定義資料流方向。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576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D3EE"/>
                </a:solidFill>
                <a:latin typeface="Consolas"/>
              </a:defRPr>
            </a:pPr>
            <a:r>
              <a:t>bezier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貝茲曲線（預設）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023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D3EE"/>
                </a:solidFill>
                <a:latin typeface="Consolas"/>
              </a:defRPr>
            </a:pPr>
            <a:r>
              <a:t>straight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023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直線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891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D3EE"/>
                </a:solidFill>
                <a:latin typeface="Consolas"/>
              </a:defRPr>
            </a:pPr>
            <a:r>
              <a:t>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直角折線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7548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D3EE"/>
                </a:solidFill>
                <a:latin typeface="Consolas"/>
              </a:defRPr>
            </a:pPr>
            <a:r>
              <a:t>smoothstep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754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圓角折線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5120640"/>
            <a:ext cx="3200400" cy="100584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52120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{ id: </a:t>
            </a:r>
            <a:r>
              <a:rPr sz="1100">
                <a:solidFill>
                  <a:srgbClr val="34D399"/>
                </a:solidFill>
                <a:latin typeface="Consolas"/>
              </a:rPr>
              <a:t>'e1-2'</a:t>
            </a:r>
            <a:r>
              <a:rPr sz="11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source: </a:t>
            </a:r>
            <a:r>
              <a:rPr sz="1100">
                <a:solidFill>
                  <a:srgbClr val="34D399"/>
                </a:solidFill>
                <a:latin typeface="Consolas"/>
              </a:rPr>
              <a:t>'1'</a:t>
            </a:r>
            <a:r>
              <a:rPr sz="1100">
                <a:solidFill>
                  <a:srgbClr val="D4D4D8"/>
                </a:solidFill>
                <a:latin typeface="Consolas"/>
              </a:rPr>
              <a:t>, target: </a:t>
            </a:r>
            <a:r>
              <a:rPr sz="1100">
                <a:solidFill>
                  <a:srgbClr val="34D399"/>
                </a:solidFill>
                <a:latin typeface="Consolas"/>
              </a:rPr>
              <a:t>'2'</a:t>
            </a:r>
            <a:r>
              <a:rPr sz="11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type: </a:t>
            </a:r>
            <a:r>
              <a:rPr sz="1100">
                <a:solidFill>
                  <a:srgbClr val="34D399"/>
                </a:solidFill>
                <a:latin typeface="Consolas"/>
              </a:rPr>
              <a:t>'smoothstep'</a:t>
            </a:r>
            <a:r>
              <a:rPr sz="1100">
                <a:solidFill>
                  <a:srgbClr val="D4D4D8"/>
                </a:solidFill>
                <a:latin typeface="Consolas"/>
              </a:rPr>
              <a:t>, animated: </a:t>
            </a:r>
            <a:r>
              <a:rPr sz="1100">
                <a:solidFill>
                  <a:srgbClr val="C084FC"/>
                </a:solidFill>
                <a:latin typeface="Consolas"/>
              </a:rPr>
              <a:t>true</a:t>
            </a:r>
            <a:r>
              <a:rPr sz="1100">
                <a:solidFill>
                  <a:srgbClr val="D4D4D8"/>
                </a:solidFill>
                <a:latin typeface="Consolas"/>
              </a:rPr>
              <a:t> 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286000"/>
            <a:ext cx="3383280" cy="41148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24688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7185"/>
                </a:solidFill>
                <a:latin typeface="Calibri"/>
              </a:defRPr>
            </a:pPr>
            <a:r>
              <a:t>⚡  Handle（連接點）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175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節點上的圓形端點，用於連接邊。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657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onsolas"/>
              </a:defRPr>
            </a:pPr>
            <a:r>
              <a:t>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6576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輸出端 — 邊的起點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14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7185"/>
                </a:solidFill>
                <a:latin typeface="Consolas"/>
              </a:defRPr>
            </a:pPr>
            <a: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114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輸入端 — 邊的終點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66344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475488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Handle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type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"source"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:position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"Position.Right"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id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"output-a"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/&gt;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onsolas"/>
              </a:defRPr>
            </a:pPr>
            <a:r>
              <a:t>04  內建節點類型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F0"/>
                </a:solidFill>
                <a:latin typeface="Calibri"/>
              </a:defRPr>
            </a:pPr>
            <a:r>
              <a:t>三種內建節點 + 自定義擴展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338328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Calibri"/>
              </a:defRPr>
            </a:pPr>
            <a:r>
              <a:t>📥  輸入節點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86888"/>
                </a:solidFill>
                <a:latin typeface="Consolas"/>
              </a:defRPr>
            </a:pPr>
            <a:r>
              <a:t>type: 'input'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流程起始點，只有 source handle（底部）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19456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383280" cy="508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39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alibri"/>
              </a:defRPr>
            </a:pPr>
            <a:r>
              <a:t>📦  預設節點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880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86888"/>
                </a:solidFill>
                <a:latin typeface="Consolas"/>
              </a:defRPr>
            </a:pPr>
            <a:r>
              <a:t>type: 'default'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32918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同時有 source 和 target handle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599" y="219456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599" y="2194560"/>
            <a:ext cx="3383280" cy="508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9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7185"/>
                </a:solidFill>
                <a:latin typeface="Calibri"/>
              </a:defRPr>
            </a:pPr>
            <a:r>
              <a:t>📤  輸出節點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9" y="2880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86888"/>
                </a:solidFill>
                <a:latin typeface="Consolas"/>
              </a:defRPr>
            </a:pPr>
            <a:r>
              <a:t>type: 'output'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32918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流程結束點，只有 target handle（頂部）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389120"/>
            <a:ext cx="5029200" cy="201168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389120"/>
            <a:ext cx="502920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🎨  自定義節點 — 完全掌控外觀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使用 Vue 元件建立任意外觀的節點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486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Calibri"/>
              </a:defRPr>
            </a:pPr>
            <a:r>
              <a:t>⚠️ 記得使用 markRaw() 包裝元件，避免效能問題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29768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438912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const </a:t>
            </a:r>
            <a:r>
              <a:rPr sz="1100">
                <a:solidFill>
                  <a:srgbClr val="D4D4D8"/>
                </a:solidFill>
                <a:latin typeface="Consolas"/>
              </a:rPr>
              <a:t>nodeTypes </a:t>
            </a:r>
            <a:r>
              <a:rPr sz="1100">
                <a:solidFill>
                  <a:srgbClr val="D4D4D8"/>
                </a:solidFill>
                <a:latin typeface="Consolas"/>
              </a:rPr>
              <a:t>= 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custom: </a:t>
            </a:r>
            <a:r>
              <a:rPr sz="1100">
                <a:solidFill>
                  <a:srgbClr val="FBBF24"/>
                </a:solidFill>
                <a:latin typeface="Consolas"/>
              </a:rPr>
              <a:t>markRaw</a:t>
            </a:r>
            <a:r>
              <a:rPr sz="1100">
                <a:solidFill>
                  <a:srgbClr val="D4D4D8"/>
                </a:solidFill>
                <a:latin typeface="Consolas"/>
              </a:rPr>
              <a:t>(CustomNode)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VueFlow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:node-types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"nodeTypes"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v-model:nodes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"nodes"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/&gt;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onsolas"/>
              </a:defRPr>
            </a:pPr>
            <a:r>
              <a:t>05  自定義節點實作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F0"/>
                </a:solidFill>
                <a:latin typeface="Calibri"/>
              </a:defRPr>
            </a:pPr>
            <a:r>
              <a:t>CustomNode.vue — 打造專屬節點外觀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37160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22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B7185"/>
                </a:solidFill>
                <a:latin typeface="Calibri"/>
              </a:rPr>
              <a:t>Template 模板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212080" cy="3931919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template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&lt;</a:t>
            </a:r>
            <a:r>
              <a:rPr sz="1100">
                <a:solidFill>
                  <a:srgbClr val="FB7185"/>
                </a:solidFill>
                <a:latin typeface="Consolas"/>
              </a:rPr>
              <a:t>div </a:t>
            </a:r>
            <a:r>
              <a:rPr sz="1100">
                <a:solidFill>
                  <a:srgbClr val="818CF8"/>
                </a:solidFill>
                <a:latin typeface="Consolas"/>
              </a:rPr>
              <a:t>class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"custom-node"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</a:t>
            </a:r>
            <a:r>
              <a:rPr sz="1100">
                <a:solidFill>
                  <a:srgbClr val="686888"/>
                </a:solidFill>
                <a:latin typeface="Consolas"/>
              </a:rPr>
              <a:t>&lt;!-- 輸入 Handle --&gt;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&lt;</a:t>
            </a:r>
            <a:r>
              <a:rPr sz="1100">
                <a:solidFill>
                  <a:srgbClr val="FB7185"/>
                </a:solidFill>
                <a:latin typeface="Consolas"/>
              </a:rPr>
              <a:t>Handle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    v-if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"data.category !== 'input'"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    type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"target"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    :position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"Position.Left"</a:t>
            </a:r>
            <a:r>
              <a:rPr sz="1100">
                <a:solidFill>
                  <a:srgbClr val="D4D4D8"/>
                </a:solidFill>
                <a:latin typeface="Consolas"/>
              </a:rPr>
              <a:t> /&gt;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</a:t>
            </a:r>
            <a:r>
              <a:rPr sz="1100">
                <a:solidFill>
                  <a:srgbClr val="686888"/>
                </a:solidFill>
                <a:latin typeface="Consolas"/>
              </a:rPr>
              <a:t>&lt;!-- 節點標題 --&gt;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&lt;</a:t>
            </a:r>
            <a:r>
              <a:rPr sz="1100">
                <a:solidFill>
                  <a:srgbClr val="FB7185"/>
                </a:solidFill>
                <a:latin typeface="Consolas"/>
              </a:rPr>
              <a:t>div </a:t>
            </a:r>
            <a:r>
              <a:rPr sz="1100">
                <a:solidFill>
                  <a:srgbClr val="818CF8"/>
                </a:solidFill>
                <a:latin typeface="Consolas"/>
              </a:rPr>
              <a:t>class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"header"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  {{ data.icon }} {{ data.title }}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&lt;/</a:t>
            </a:r>
            <a:r>
              <a:rPr sz="1100">
                <a:solidFill>
                  <a:srgbClr val="FB7185"/>
                </a:solidFill>
                <a:latin typeface="Consolas"/>
              </a:rPr>
              <a:t>div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</a:t>
            </a:r>
            <a:r>
              <a:rPr sz="1100">
                <a:solidFill>
                  <a:srgbClr val="686888"/>
                </a:solidFill>
                <a:latin typeface="Consolas"/>
              </a:rPr>
              <a:t>&lt;!-- 節點內容 --&gt;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&lt;</a:t>
            </a:r>
            <a:r>
              <a:rPr sz="1100">
                <a:solidFill>
                  <a:srgbClr val="FB7185"/>
                </a:solidFill>
                <a:latin typeface="Consolas"/>
              </a:rPr>
              <a:t>div </a:t>
            </a:r>
            <a:r>
              <a:rPr sz="1100">
                <a:solidFill>
                  <a:srgbClr val="818CF8"/>
                </a:solidFill>
                <a:latin typeface="Consolas"/>
              </a:rPr>
              <a:t>class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"body"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  {{ data.description }}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&lt;/</a:t>
            </a:r>
            <a:r>
              <a:rPr sz="1100">
                <a:solidFill>
                  <a:srgbClr val="FB7185"/>
                </a:solidFill>
                <a:latin typeface="Consolas"/>
              </a:rPr>
              <a:t>div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</a:t>
            </a:r>
            <a:r>
              <a:rPr sz="1100">
                <a:solidFill>
                  <a:srgbClr val="686888"/>
                </a:solidFill>
                <a:latin typeface="Consolas"/>
              </a:rPr>
              <a:t>&lt;!-- 輸出 Handle --&gt;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&lt;</a:t>
            </a:r>
            <a:r>
              <a:rPr sz="1100">
                <a:solidFill>
                  <a:srgbClr val="FB7185"/>
                </a:solidFill>
                <a:latin typeface="Consolas"/>
              </a:rPr>
              <a:t>Handle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    v-if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"data.category !== 'output'"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    type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"source"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    :position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"Position.Right"</a:t>
            </a:r>
            <a:r>
              <a:rPr sz="1100">
                <a:solidFill>
                  <a:srgbClr val="D4D4D8"/>
                </a:solidFill>
                <a:latin typeface="Consolas"/>
              </a:rPr>
              <a:t> /&gt;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&lt;/</a:t>
            </a:r>
            <a:r>
              <a:rPr sz="1100">
                <a:solidFill>
                  <a:srgbClr val="FB7185"/>
                </a:solidFill>
                <a:latin typeface="Consolas"/>
              </a:rPr>
              <a:t>div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&lt;/</a:t>
            </a:r>
            <a:r>
              <a:rPr sz="1100">
                <a:solidFill>
                  <a:srgbClr val="FB7185"/>
                </a:solidFill>
                <a:latin typeface="Consolas"/>
              </a:rPr>
              <a:t>template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22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Script 邏輯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514600"/>
            <a:ext cx="5394960" cy="20116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60604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script setup lang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"ts"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D4D4D8"/>
                </a:solidFill>
                <a:latin typeface="Consolas"/>
              </a:rPr>
              <a:t>{ Handle, Position 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</a:t>
            </a:r>
            <a:r>
              <a:rPr sz="1100">
                <a:solidFill>
                  <a:srgbClr val="C084FC"/>
                </a:solidFill>
                <a:latin typeface="Consolas"/>
              </a:rPr>
              <a:t>from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'@vue-flow/core'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interface </a:t>
            </a:r>
            <a:r>
              <a:rPr sz="1100">
                <a:solidFill>
                  <a:srgbClr val="22D3EE"/>
                </a:solidFill>
                <a:latin typeface="Consolas"/>
              </a:rPr>
              <a:t>NodeData</a:t>
            </a:r>
            <a:r>
              <a:rPr sz="1100">
                <a:solidFill>
                  <a:srgbClr val="D4D4D8"/>
                </a:solidFill>
                <a:latin typeface="Consolas"/>
              </a:rPr>
              <a:t> 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category: </a:t>
            </a:r>
            <a:r>
              <a:rPr sz="1100">
                <a:solidFill>
                  <a:srgbClr val="34D399"/>
                </a:solidFill>
                <a:latin typeface="Consolas"/>
              </a:rPr>
              <a:t>'input' | 'process' | 'output'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icon: </a:t>
            </a:r>
            <a:r>
              <a:rPr sz="1100">
                <a:solidFill>
                  <a:srgbClr val="22D3EE"/>
                </a:solidFill>
                <a:latin typeface="Consolas"/>
              </a:rPr>
              <a:t>string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title: </a:t>
            </a:r>
            <a:r>
              <a:rPr sz="1100">
                <a:solidFill>
                  <a:srgbClr val="22D3EE"/>
                </a:solidFill>
                <a:latin typeface="Consolas"/>
              </a:rPr>
              <a:t>string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description: </a:t>
            </a:r>
            <a:r>
              <a:rPr sz="1100">
                <a:solidFill>
                  <a:srgbClr val="22D3EE"/>
                </a:solidFill>
                <a:latin typeface="Consolas"/>
              </a:rPr>
              <a:t>string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defineProps</a:t>
            </a:r>
            <a:r>
              <a:rPr sz="1100">
                <a:solidFill>
                  <a:srgbClr val="D4D4D8"/>
                </a:solidFill>
                <a:latin typeface="Consolas"/>
              </a:rPr>
              <a:t>&lt;{ id: </a:t>
            </a:r>
            <a:r>
              <a:rPr sz="1100">
                <a:solidFill>
                  <a:srgbClr val="22D3EE"/>
                </a:solidFill>
                <a:latin typeface="Consolas"/>
              </a:rPr>
              <a:t>string</a:t>
            </a:r>
            <a:r>
              <a:rPr sz="1100">
                <a:solidFill>
                  <a:srgbClr val="D4D4D8"/>
                </a:solidFill>
                <a:latin typeface="Consolas"/>
              </a:rPr>
              <a:t>; data: </a:t>
            </a:r>
            <a:r>
              <a:rPr sz="1100">
                <a:solidFill>
                  <a:srgbClr val="22D3EE"/>
                </a:solidFill>
                <a:latin typeface="Consolas"/>
              </a:rPr>
              <a:t>NodeData</a:t>
            </a:r>
            <a:r>
              <a:rPr sz="1100">
                <a:solidFill>
                  <a:srgbClr val="D4D4D8"/>
                </a:solidFill>
                <a:latin typeface="Consolas"/>
              </a:rPr>
              <a:t> }&gt;()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&lt;/</a:t>
            </a:r>
            <a:r>
              <a:rPr sz="1100">
                <a:solidFill>
                  <a:srgbClr val="FB7185"/>
                </a:solidFill>
                <a:latin typeface="Consolas"/>
              </a:rPr>
              <a:t>script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84632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15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937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  <a:latin typeface="Calibri"/>
              </a:defRPr>
            </a:pPr>
            <a:r>
              <a:t>💡  關鍵重點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• Handle 的 type='source' → 輸出端 (邊的起點)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60527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• Handle 的 type='target' → 輸入端 (邊的終點)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8613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• 用 v-if 依據 category 控制 Handle 顯示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1173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• Props 會自動收到 id、data、selected 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onsolas"/>
              </a:defRPr>
            </a:pPr>
            <a:r>
              <a:t>06  useVueFlow Composable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F0"/>
                </a:solidFill>
                <a:latin typeface="Calibri"/>
              </a:defRPr>
            </a:pPr>
            <a:r>
              <a:t>核心 API — 控制畫布的一切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37160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669280" cy="42976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script setup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D4D4D8"/>
                </a:solidFill>
                <a:latin typeface="Consolas"/>
              </a:rPr>
              <a:t>{ useVueFlow } </a:t>
            </a:r>
            <a:r>
              <a:rPr sz="1100">
                <a:solidFill>
                  <a:srgbClr val="C084FC"/>
                </a:solidFill>
                <a:latin typeface="Consolas"/>
              </a:rPr>
              <a:t>from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'@vue-flow/core'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const </a:t>
            </a:r>
            <a:r>
              <a:rPr sz="1100">
                <a:solidFill>
                  <a:srgbClr val="D4D4D8"/>
                </a:solidFill>
                <a:latin typeface="Consolas"/>
              </a:rPr>
              <a:t>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  onConnect,     </a:t>
            </a:r>
            <a:r>
              <a:rPr sz="1100">
                <a:solidFill>
                  <a:srgbClr val="686888"/>
                </a:solidFill>
                <a:latin typeface="Consolas"/>
              </a:rPr>
              <a:t>// 連線建立事件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  addNodes,      </a:t>
            </a:r>
            <a:r>
              <a:rPr sz="1100">
                <a:solidFill>
                  <a:srgbClr val="686888"/>
                </a:solidFill>
                <a:latin typeface="Consolas"/>
              </a:rPr>
              <a:t>// 新增節點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  addEdges,      </a:t>
            </a:r>
            <a:r>
              <a:rPr sz="1100">
                <a:solidFill>
                  <a:srgbClr val="686888"/>
                </a:solidFill>
                <a:latin typeface="Consolas"/>
              </a:rPr>
              <a:t>// 新增邊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  removeNodes,   </a:t>
            </a:r>
            <a:r>
              <a:rPr sz="1100">
                <a:solidFill>
                  <a:srgbClr val="686888"/>
                </a:solidFill>
                <a:latin typeface="Consolas"/>
              </a:rPr>
              <a:t>// 移除節點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  fitView,       </a:t>
            </a:r>
            <a:r>
              <a:rPr sz="1100">
                <a:solidFill>
                  <a:srgbClr val="686888"/>
                </a:solidFill>
                <a:latin typeface="Consolas"/>
              </a:rPr>
              <a:t>// 適配畫面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  project,       </a:t>
            </a:r>
            <a:r>
              <a:rPr sz="1100">
                <a:solidFill>
                  <a:srgbClr val="686888"/>
                </a:solidFill>
                <a:latin typeface="Consolas"/>
              </a:rPr>
              <a:t>// 座標轉換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  toObject,      </a:t>
            </a:r>
            <a:r>
              <a:rPr sz="1100">
                <a:solidFill>
                  <a:srgbClr val="686888"/>
                </a:solidFill>
                <a:latin typeface="Consolas"/>
              </a:rPr>
              <a:t>// 匯出狀態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  vueFlowRef,    </a:t>
            </a:r>
            <a:r>
              <a:rPr sz="1100">
                <a:solidFill>
                  <a:srgbClr val="686888"/>
                </a:solidFill>
                <a:latin typeface="Consolas"/>
              </a:rPr>
              <a:t>// DOM 參考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} = </a:t>
            </a:r>
            <a:r>
              <a:rPr sz="1100">
                <a:solidFill>
                  <a:srgbClr val="FBBF24"/>
                </a:solidFill>
                <a:latin typeface="Consolas"/>
              </a:rPr>
              <a:t>useVueFlow</a:t>
            </a:r>
            <a:r>
              <a:rPr sz="1100">
                <a:solidFill>
                  <a:srgbClr val="D4D4D8"/>
                </a:solidFill>
                <a:latin typeface="Consolas"/>
              </a:rPr>
              <a:t>()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// 監聽連線建立事件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BBF24"/>
                </a:solidFill>
                <a:latin typeface="Consolas"/>
              </a:rPr>
              <a:t>onConnect</a:t>
            </a:r>
            <a:r>
              <a:rPr sz="1100">
                <a:solidFill>
                  <a:srgbClr val="D4D4D8"/>
                </a:solidFill>
                <a:latin typeface="Consolas"/>
              </a:rPr>
              <a:t>((connection) =&gt; 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</a:t>
            </a:r>
            <a:r>
              <a:rPr sz="1100">
                <a:solidFill>
                  <a:srgbClr val="FBBF24"/>
                </a:solidFill>
                <a:latin typeface="Consolas"/>
              </a:rPr>
              <a:t>addEdges</a:t>
            </a:r>
            <a:r>
              <a:rPr sz="1100">
                <a:solidFill>
                  <a:srgbClr val="D4D4D8"/>
                </a:solidFill>
                <a:latin typeface="Consolas"/>
              </a:rPr>
              <a:t>([{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...connection,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type: </a:t>
            </a:r>
            <a:r>
              <a:rPr sz="1100">
                <a:solidFill>
                  <a:srgbClr val="34D399"/>
                </a:solidFill>
                <a:latin typeface="Consolas"/>
              </a:rPr>
              <a:t>'smoothstep'</a:t>
            </a:r>
            <a:r>
              <a:rPr sz="11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animated: </a:t>
            </a:r>
            <a:r>
              <a:rPr sz="1100">
                <a:solidFill>
                  <a:srgbClr val="C084FC"/>
                </a:solidFill>
                <a:latin typeface="Consolas"/>
              </a:rPr>
              <a:t>true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}])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})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&lt;/</a:t>
            </a:r>
            <a:r>
              <a:rPr sz="1100">
                <a:solidFill>
                  <a:srgbClr val="FB7185"/>
                </a:solidFill>
                <a:latin typeface="Consolas"/>
              </a:rPr>
              <a:t>script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E8F0"/>
                </a:solidFill>
                <a:latin typeface="Calibri"/>
              </a:defRPr>
            </a:pPr>
            <a:r>
              <a:t>常用方法一覽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834640"/>
            <a:ext cx="4754880" cy="36576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2862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onsolas"/>
              </a:defRPr>
            </a:pPr>
            <a:r>
              <a:t>addNodes()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8620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動態新增節點到畫布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73552"/>
            <a:ext cx="4754880" cy="36576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33009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onsolas"/>
              </a:defRPr>
            </a:pPr>
            <a:r>
              <a:t>addEdges()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330098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動態新增連線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712464"/>
            <a:ext cx="4754880" cy="36576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73989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7185"/>
                </a:solidFill>
                <a:latin typeface="Consolas"/>
              </a:defRPr>
            </a:pPr>
            <a:r>
              <a:t>removeNodes()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7398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移除指定節點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151376"/>
            <a:ext cx="4754880" cy="36576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178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7185"/>
                </a:solidFill>
                <a:latin typeface="Consolas"/>
              </a:defRPr>
            </a:pPr>
            <a:r>
              <a:t>removeEdges()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41788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移除指定連線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4590288"/>
            <a:ext cx="4754880" cy="36576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onsolas"/>
              </a:defRPr>
            </a:pPr>
            <a:r>
              <a:t>fitView()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617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自動適配畫面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5029200"/>
            <a:ext cx="4754880" cy="36576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50566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onsolas"/>
              </a:defRPr>
            </a:pPr>
            <a:r>
              <a:t>project()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5056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螢幕座標→畫布座標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5468112"/>
            <a:ext cx="4754880" cy="36576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54955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Consolas"/>
              </a:defRPr>
            </a:pPr>
            <a:r>
              <a:t>toObject()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549554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898B8"/>
                </a:solidFill>
                <a:latin typeface="Calibri"/>
              </a:defRPr>
            </a:pPr>
            <a:r>
              <a:t>匯出 nodes + edges + viewport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6035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86888"/>
                </a:solidFill>
                <a:latin typeface="Consolas"/>
              </a:defRPr>
            </a:pPr>
            <a:r>
              <a:t>事件：onConnect · onNodeClick · onEdgesChange · onPaneClick · onNodeDragStop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onsolas"/>
              </a:defRPr>
            </a:pPr>
            <a:r>
              <a:t>07  拖放新增節點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F0"/>
                </a:solidFill>
                <a:latin typeface="Calibri"/>
              </a:defRPr>
            </a:pPr>
            <a:r>
              <a:t>Drag &amp; Drop — 從側邊欄拖入畫布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37160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2103120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898B8"/>
                </a:solidFill>
                <a:latin typeface="Calibri"/>
              </a:defRPr>
            </a:pPr>
            <a:r>
              <a:t>Sidebar 設定 dragstart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86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Oval 7"/>
          <p:cNvSpPr/>
          <p:nvPr/>
        </p:nvSpPr>
        <p:spPr>
          <a:xfrm>
            <a:off x="2971800" y="2103120"/>
            <a:ext cx="411480" cy="41148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260604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898B8"/>
                </a:solidFill>
                <a:latin typeface="Calibri"/>
              </a:defRPr>
            </a:pPr>
            <a:r>
              <a:t>Canvas 監聽 dragover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86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Oval 10"/>
          <p:cNvSpPr/>
          <p:nvPr/>
        </p:nvSpPr>
        <p:spPr>
          <a:xfrm>
            <a:off x="5212080" y="2103120"/>
            <a:ext cx="411480" cy="4114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60604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898B8"/>
                </a:solidFill>
                <a:latin typeface="Calibri"/>
              </a:defRPr>
            </a:pPr>
            <a:r>
              <a:t>Canvas 監聽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86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7452360" y="2103120"/>
            <a:ext cx="411480" cy="41148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60604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898B8"/>
                </a:solidFill>
                <a:latin typeface="Calibri"/>
              </a:defRPr>
            </a:pPr>
            <a:r>
              <a:t>用 project() 轉換座標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86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9692640" y="2103120"/>
            <a:ext cx="411480" cy="411480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60604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898B8"/>
                </a:solidFill>
                <a:latin typeface="Calibri"/>
              </a:defRPr>
            </a:pPr>
            <a:r>
              <a:t>addNodes() 新增節點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01752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22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Sidebar.vue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29000"/>
            <a:ext cx="5212080" cy="24688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5204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// Sidebar：設定 dataTransfer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function </a:t>
            </a:r>
            <a:r>
              <a:rPr sz="1100">
                <a:solidFill>
                  <a:srgbClr val="FBBF24"/>
                </a:solidFill>
                <a:latin typeface="Consolas"/>
              </a:rPr>
              <a:t>onDragStart</a:t>
            </a:r>
            <a:r>
              <a:rPr sz="1100">
                <a:solidFill>
                  <a:srgbClr val="D4D4D8"/>
                </a:solidFill>
                <a:latin typeface="Consolas"/>
              </a:rPr>
              <a:t>(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event: </a:t>
            </a:r>
            <a:r>
              <a:rPr sz="1100">
                <a:solidFill>
                  <a:srgbClr val="22D3EE"/>
                </a:solidFill>
                <a:latin typeface="Consolas"/>
              </a:rPr>
              <a:t>DragEvent</a:t>
            </a:r>
            <a:r>
              <a:rPr sz="1100">
                <a:solidFill>
                  <a:srgbClr val="D4D4D8"/>
                </a:solidFill>
                <a:latin typeface="Consolas"/>
              </a:rPr>
              <a:t>, nodeType: </a:t>
            </a:r>
            <a:r>
              <a:rPr sz="1100">
                <a:solidFill>
                  <a:srgbClr val="22D3EE"/>
                </a:solidFill>
                <a:latin typeface="Consolas"/>
              </a:rPr>
              <a:t>string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) 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event.dataTransfer</a:t>
            </a:r>
            <a:r>
              <a:rPr sz="1100">
                <a:solidFill>
                  <a:srgbClr val="C084FC"/>
                </a:solidFill>
                <a:latin typeface="Consolas"/>
              </a:rPr>
              <a:t>?.</a:t>
            </a:r>
            <a:r>
              <a:rPr sz="1100">
                <a:solidFill>
                  <a:srgbClr val="FBBF24"/>
                </a:solidFill>
                <a:latin typeface="Consolas"/>
              </a:rPr>
              <a:t>setData</a:t>
            </a:r>
            <a:r>
              <a:rPr sz="1100">
                <a:solidFill>
                  <a:srgbClr val="D4D4D8"/>
                </a:solidFill>
                <a:latin typeface="Consolas"/>
              </a:rPr>
              <a:t>(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</a:t>
            </a:r>
            <a:r>
              <a:rPr sz="1100">
                <a:solidFill>
                  <a:srgbClr val="34D399"/>
                </a:solidFill>
                <a:latin typeface="Consolas"/>
              </a:rPr>
              <a:t>'application/vueflow'</a:t>
            </a:r>
            <a:r>
              <a:rPr sz="1100">
                <a:solidFill>
                  <a:srgbClr val="D4D4D8"/>
                </a:solidFill>
                <a:latin typeface="Consolas"/>
              </a:rPr>
              <a:t>, nodeType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event.dataTransfer.effectAllowed = </a:t>
            </a:r>
            <a:r>
              <a:rPr sz="1100">
                <a:solidFill>
                  <a:srgbClr val="34D399"/>
                </a:solidFill>
                <a:latin typeface="Consolas"/>
              </a:rPr>
              <a:t>'move'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// Template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div </a:t>
            </a:r>
            <a:r>
              <a:rPr sz="1100">
                <a:solidFill>
                  <a:srgbClr val="818CF8"/>
                </a:solidFill>
                <a:latin typeface="Consolas"/>
              </a:rPr>
              <a:t>:draggable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"true"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   @dragstart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"onDragStart($event, type)"</a:t>
            </a:r>
            <a:r>
              <a:rPr sz="1100">
                <a:solidFill>
                  <a:srgbClr val="D4D4D8"/>
                </a:solidFill>
                <a:latin typeface="Consolas"/>
              </a:rPr>
              <a:t> /&gt;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01752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22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App.vue (drop)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394960" cy="29260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3520440"/>
            <a:ext cx="5212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function </a:t>
            </a:r>
            <a:r>
              <a:rPr sz="1100">
                <a:solidFill>
                  <a:srgbClr val="FBBF24"/>
                </a:solidFill>
                <a:latin typeface="Consolas"/>
              </a:rPr>
              <a:t>onDrop</a:t>
            </a:r>
            <a:r>
              <a:rPr sz="1100">
                <a:solidFill>
                  <a:srgbClr val="D4D4D8"/>
                </a:solidFill>
                <a:latin typeface="Consolas"/>
              </a:rPr>
              <a:t>(event: </a:t>
            </a:r>
            <a:r>
              <a:rPr sz="1100">
                <a:solidFill>
                  <a:srgbClr val="22D3EE"/>
                </a:solidFill>
                <a:latin typeface="Consolas"/>
              </a:rPr>
              <a:t>DragEvent</a:t>
            </a:r>
            <a:r>
              <a:rPr sz="1100">
                <a:solidFill>
                  <a:srgbClr val="D4D4D8"/>
                </a:solidFill>
                <a:latin typeface="Consolas"/>
              </a:rPr>
              <a:t>) 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  const </a:t>
            </a:r>
            <a:r>
              <a:rPr sz="1100">
                <a:solidFill>
                  <a:srgbClr val="D4D4D8"/>
                </a:solidFill>
                <a:latin typeface="Consolas"/>
              </a:rPr>
              <a:t>type = event.dataTransfer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.</a:t>
            </a:r>
            <a:r>
              <a:rPr sz="1100">
                <a:solidFill>
                  <a:srgbClr val="FBBF24"/>
                </a:solidFill>
                <a:latin typeface="Consolas"/>
              </a:rPr>
              <a:t>getData</a:t>
            </a:r>
            <a:r>
              <a:rPr sz="1100">
                <a:solidFill>
                  <a:srgbClr val="D4D4D8"/>
                </a:solidFill>
                <a:latin typeface="Consolas"/>
              </a:rPr>
              <a:t>(</a:t>
            </a:r>
            <a:r>
              <a:rPr sz="1100">
                <a:solidFill>
                  <a:srgbClr val="34D399"/>
                </a:solidFill>
                <a:latin typeface="Consolas"/>
              </a:rPr>
              <a:t>'application/vueflow'</a:t>
            </a:r>
            <a:r>
              <a:rPr sz="1100">
                <a:solidFill>
                  <a:srgbClr val="D4D4D8"/>
                </a:solidFill>
                <a:latin typeface="Consolas"/>
              </a:rPr>
              <a:t>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  // 將螢幕座標轉為畫布座標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  const </a:t>
            </a:r>
            <a:r>
              <a:rPr sz="1100">
                <a:solidFill>
                  <a:srgbClr val="D4D4D8"/>
                </a:solidFill>
                <a:latin typeface="Consolas"/>
              </a:rPr>
              <a:t>{ left, top } = 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vueFlowRef.value.</a:t>
            </a:r>
            <a:r>
              <a:rPr sz="1100">
                <a:solidFill>
                  <a:srgbClr val="FBBF24"/>
                </a:solidFill>
                <a:latin typeface="Consolas"/>
              </a:rPr>
              <a:t>getBoundingClientRect</a:t>
            </a:r>
            <a:r>
              <a:rPr sz="1100">
                <a:solidFill>
                  <a:srgbClr val="D4D4D8"/>
                </a:solidFill>
                <a:latin typeface="Consolas"/>
              </a:rPr>
              <a:t>()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  const </a:t>
            </a:r>
            <a:r>
              <a:rPr sz="1100">
                <a:solidFill>
                  <a:srgbClr val="D4D4D8"/>
                </a:solidFill>
                <a:latin typeface="Consolas"/>
              </a:rPr>
              <a:t>position = </a:t>
            </a:r>
            <a:r>
              <a:rPr sz="1100">
                <a:solidFill>
                  <a:srgbClr val="FBBF24"/>
                </a:solidFill>
                <a:latin typeface="Consolas"/>
              </a:rPr>
              <a:t>project</a:t>
            </a:r>
            <a:r>
              <a:rPr sz="1100">
                <a:solidFill>
                  <a:srgbClr val="D4D4D8"/>
                </a:solidFill>
                <a:latin typeface="Consolas"/>
              </a:rPr>
              <a:t>({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x: event.clientX - left,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y: event.clientY - top,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})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</a:t>
            </a:r>
            <a:r>
              <a:rPr sz="1100">
                <a:solidFill>
                  <a:srgbClr val="FBBF24"/>
                </a:solidFill>
                <a:latin typeface="Consolas"/>
              </a:rPr>
              <a:t>addNodes</a:t>
            </a:r>
            <a:r>
              <a:rPr sz="1100">
                <a:solidFill>
                  <a:srgbClr val="D4D4D8"/>
                </a:solidFill>
                <a:latin typeface="Consolas"/>
              </a:rPr>
              <a:t>([{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id: </a:t>
            </a:r>
            <a:r>
              <a:rPr sz="1100">
                <a:solidFill>
                  <a:srgbClr val="34D399"/>
                </a:solidFill>
                <a:latin typeface="Consolas"/>
              </a:rPr>
              <a:t>`node-${++nodeId}`</a:t>
            </a:r>
            <a:r>
              <a:rPr sz="11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type: </a:t>
            </a:r>
            <a:r>
              <a:rPr sz="1100">
                <a:solidFill>
                  <a:srgbClr val="34D399"/>
                </a:solidFill>
                <a:latin typeface="Consolas"/>
              </a:rPr>
              <a:t>'custom'</a:t>
            </a:r>
            <a:r>
              <a:rPr sz="1100">
                <a:solidFill>
                  <a:srgbClr val="D4D4D8"/>
                </a:solidFill>
                <a:latin typeface="Consolas"/>
              </a:rPr>
              <a:t>, position,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  data: { category: type, ... 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  }])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onsolas"/>
              </a:defRPr>
            </a:pPr>
            <a:r>
              <a:t>08  官方外掛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F0"/>
                </a:solidFill>
                <a:latin typeface="Calibri"/>
              </a:defRPr>
            </a:pPr>
            <a:r>
              <a:t>Background · Controls · MiniMap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37160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41148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18CF8"/>
                </a:solidFill>
                <a:latin typeface="Calibri"/>
              </a:defRPr>
            </a:pPr>
            <a:r>
              <a:t>🔲  背景網格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86888"/>
                </a:solidFill>
                <a:latin typeface="Consolas"/>
              </a:defRPr>
            </a:pPr>
            <a:r>
              <a:t>@vue-flow/background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在畫布上顯示點陣或線條網格，提供空間參考感。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3200400" cy="15544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Background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:gap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"20"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:size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"1"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variant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"dots"</a:t>
            </a:r>
            <a:r>
              <a:rPr sz="1100">
                <a:solidFill>
                  <a:srgbClr val="D4D4D8"/>
                </a:solidFill>
                <a:latin typeface="Consolas"/>
              </a:rPr>
              <a:t> /&gt;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194560"/>
            <a:ext cx="3383280" cy="41148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39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alibri"/>
              </a:defRPr>
            </a:pPr>
            <a:r>
              <a:t>🎛️  操控按鈕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86888"/>
                </a:solidFill>
                <a:latin typeface="Consolas"/>
              </a:defRPr>
            </a:pPr>
            <a:r>
              <a:t>@vue-flow/controls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32461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提供縮放、適配畫面、鎖定等操作按鈕。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1999" y="3931920"/>
            <a:ext cx="3200400" cy="15544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39" y="402336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Controls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position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"bottom-left"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/&gt;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9" y="2194560"/>
            <a:ext cx="3383280" cy="41148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9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🗺️  小地圖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86888"/>
                </a:solidFill>
                <a:latin typeface="Consolas"/>
              </a:defRPr>
            </a:pPr>
            <a:r>
              <a:t>@vue-flow/minimap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32461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8B8"/>
                </a:solidFill>
                <a:latin typeface="Calibri"/>
              </a:defRPr>
            </a:pPr>
            <a:r>
              <a:t>鳥瞰式導覽，可平移與縮放。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39" y="3931920"/>
            <a:ext cx="3200400" cy="155448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9" y="402336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MiniMap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pannable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zoomable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818CF8"/>
                </a:solidFill>
                <a:latin typeface="Consolas"/>
              </a:rPr>
              <a:t>  :nodeColor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"colorFn"</a:t>
            </a:r>
            <a:r>
              <a:rPr sz="1100">
                <a:solidFill>
                  <a:srgbClr val="D4D4D8"/>
                </a:solidFill>
                <a:latin typeface="Consolas"/>
              </a:rPr>
              <a:t> /&gt;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6492240"/>
            <a:ext cx="10698480" cy="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onsolas"/>
              </a:defRPr>
            </a:pPr>
            <a:r>
              <a:t>09  常見注意事項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F0"/>
                </a:solidFill>
                <a:latin typeface="Calibri"/>
              </a:defRPr>
            </a:pPr>
            <a:r>
              <a:t>避免這些常見陷阱 ⚠️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37160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303520" cy="201168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7185"/>
                </a:solidFill>
                <a:latin typeface="Calibri"/>
              </a:defRPr>
            </a:pPr>
            <a:r>
              <a:t>❌  容器沒有設定高度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VueFlow 的外層容器必須有明確的高度（如 height: 100vh），否則畫布不會渲染。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468880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256032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&lt;!-- ❌ 錯誤 --&gt;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div</a:t>
            </a:r>
            <a:r>
              <a:rPr sz="1100">
                <a:solidFill>
                  <a:srgbClr val="D4D4D8"/>
                </a:solidFill>
                <a:latin typeface="Consolas"/>
              </a:rPr>
              <a:t>&gt;  </a:t>
            </a:r>
            <a:r>
              <a:rPr sz="1100">
                <a:solidFill>
                  <a:srgbClr val="686888"/>
                </a:solidFill>
                <a:latin typeface="Consolas"/>
              </a:rPr>
              <a:t>&lt;!-- 沒有高度 --&gt;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&lt;!-- ✅ 正確 --&gt;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div </a:t>
            </a:r>
            <a:r>
              <a:rPr sz="1100">
                <a:solidFill>
                  <a:srgbClr val="818CF8"/>
                </a:solidFill>
                <a:latin typeface="Consolas"/>
              </a:rPr>
              <a:t>style</a:t>
            </a:r>
            <a:r>
              <a:rPr sz="1100">
                <a:solidFill>
                  <a:srgbClr val="D4D4D8"/>
                </a:solidFill>
                <a:latin typeface="Consolas"/>
              </a:rPr>
              <a:t>=</a:t>
            </a:r>
            <a:r>
              <a:rPr sz="1100">
                <a:solidFill>
                  <a:srgbClr val="34D399"/>
                </a:solidFill>
                <a:latin typeface="Consolas"/>
              </a:rPr>
              <a:t>"height: 100vh"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5303520" cy="201168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❌  忘記匯入 CSS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核心 CSS 和各外掛的 CSS 都必須手動匯入，否則元件不會正確顯示。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468880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256032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// 必須匯入這些樣式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'@vue-flow/core/dist/style.css'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'@vue-flow/core/dist/theme-default.css'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import </a:t>
            </a:r>
            <a:r>
              <a:rPr sz="1100">
                <a:solidFill>
                  <a:srgbClr val="34D399"/>
                </a:solidFill>
                <a:latin typeface="Consolas"/>
              </a:rPr>
              <a:t>'@vue-flow/controls/dist/style.css'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89120"/>
            <a:ext cx="5303520" cy="201168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❌  使用 scoped style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Vue Flow 的樣式覆寫不能放在 &lt;style scoped&gt; 中，否則 CSS 選擇器權重不足。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4754880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484632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&lt;!-- ❌ 不會生效 --&gt;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style scoped</a:t>
            </a:r>
            <a:r>
              <a:rPr sz="11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&lt;!-- ✅ 正確做法 --&gt;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8"/>
                </a:solidFill>
                <a:latin typeface="Consolas"/>
              </a:rPr>
              <a:t>&lt;</a:t>
            </a:r>
            <a:r>
              <a:rPr sz="1100">
                <a:solidFill>
                  <a:srgbClr val="FB7185"/>
                </a:solidFill>
                <a:latin typeface="Consolas"/>
              </a:rPr>
              <a:t>style</a:t>
            </a:r>
            <a:r>
              <a:rPr sz="1100">
                <a:solidFill>
                  <a:srgbClr val="D4D4D8"/>
                </a:solidFill>
                <a:latin typeface="Consolas"/>
              </a:rPr>
              <a:t>&gt;  </a:t>
            </a:r>
            <a:r>
              <a:rPr sz="1100">
                <a:solidFill>
                  <a:srgbClr val="686888"/>
                </a:solidFill>
                <a:latin typeface="Consolas"/>
              </a:rPr>
              <a:t>/* 全域樣式 */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389120"/>
            <a:ext cx="5303520" cy="201168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4805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D3EE"/>
                </a:solidFill>
                <a:latin typeface="Calibri"/>
              </a:defRPr>
            </a:pPr>
            <a:r>
              <a:t>❌  沒有用 markRaw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846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898B8"/>
                </a:solidFill>
                <a:latin typeface="Calibri"/>
              </a:defRPr>
            </a:pPr>
            <a:r>
              <a:t>自定義節點元件若未用 markRaw() 包裝，Vue 會對其進行響應式處理，導致效能問題。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4754880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12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484632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// ❌ 效能問題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const </a:t>
            </a:r>
            <a:r>
              <a:rPr sz="1100">
                <a:solidFill>
                  <a:srgbClr val="D4D4D8"/>
                </a:solidFill>
                <a:latin typeface="Consolas"/>
              </a:rPr>
              <a:t>types = { custom: MyNode }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86888"/>
                </a:solidFill>
                <a:latin typeface="Consolas"/>
              </a:rPr>
              <a:t>// ✅ 正確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084FC"/>
                </a:solidFill>
                <a:latin typeface="Consolas"/>
              </a:rPr>
              <a:t>const </a:t>
            </a:r>
            <a:r>
              <a:rPr sz="1100">
                <a:solidFill>
                  <a:srgbClr val="D4D4D8"/>
                </a:solidFill>
                <a:latin typeface="Consolas"/>
              </a:rPr>
              <a:t>types = { custom: </a:t>
            </a:r>
            <a:r>
              <a:rPr sz="1100">
                <a:solidFill>
                  <a:srgbClr val="FBBF24"/>
                </a:solidFill>
                <a:latin typeface="Consolas"/>
              </a:rPr>
              <a:t>markRaw</a:t>
            </a:r>
            <a:r>
              <a:rPr sz="1100">
                <a:solidFill>
                  <a:srgbClr val="D4D4D8"/>
                </a:solidFill>
                <a:latin typeface="Consolas"/>
              </a:rPr>
              <a:t>(MyNode) 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1828800"/>
            <a:ext cx="5486400" cy="5486400"/>
          </a:xfrm>
          <a:prstGeom prst="ellipse">
            <a:avLst/>
          </a:prstGeom>
          <a:solidFill>
            <a:srgbClr val="1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4572000" cy="4572000"/>
          </a:xfrm>
          <a:prstGeom prst="ellipse">
            <a:avLst/>
          </a:prstGeom>
          <a:solidFill>
            <a:srgbClr val="15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8E8F0"/>
                </a:solidFill>
                <a:latin typeface="Calibri"/>
              </a:defRPr>
            </a:pPr>
            <a:r>
              <a:t>開始建立你的流程圖 🚀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926080"/>
            <a:ext cx="1828800" cy="381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898B8"/>
                </a:solidFill>
                <a:latin typeface="Calibri"/>
              </a:defRPr>
            </a:pPr>
            <a:r>
              <a:t>Vue Flow 讓複雜的節點式介面變得簡單優雅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alibri"/>
              </a:defRPr>
            </a:pPr>
            <a:r>
              <a:t>📖  官方文件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6888"/>
                </a:solidFill>
                <a:latin typeface="Consolas"/>
              </a:defRPr>
            </a:pPr>
            <a:r>
              <a:t>vueflow.dev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4206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alibri"/>
              </a:defRPr>
            </a:pPr>
            <a:r>
              <a:t>🐙  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6888"/>
                </a:solidFill>
                <a:latin typeface="Consolas"/>
              </a:defRPr>
            </a:pPr>
            <a:r>
              <a:t>github.com/bcakmakoglu/vue-flow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754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alibri"/>
              </a:defRPr>
            </a:pPr>
            <a:r>
              <a:t>📦  NPM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6888"/>
                </a:solidFill>
                <a:latin typeface="Consolas"/>
              </a:defRPr>
            </a:pPr>
            <a:r>
              <a:t>npmjs.com/package/@vue-flow/core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754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alibri"/>
              </a:defRPr>
            </a:pPr>
            <a:r>
              <a:t>🎮  範例集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6888"/>
                </a:solidFill>
                <a:latin typeface="Consolas"/>
              </a:defRPr>
            </a:pPr>
            <a:r>
              <a:t>vueflow.dev/examples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A78BFA"/>
                </a:solidFill>
                <a:latin typeface="Calibri"/>
              </a:defRPr>
            </a:pPr>
            <a:r>
              <a:t>Thank you 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